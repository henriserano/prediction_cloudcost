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0A1F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77240"/>
            <a:ext cx="12191695" cy="45720"/>
          </a:xfrm>
          <a:prstGeom prst="rect">
            <a:avLst/>
          </a:prstGeom>
          <a:solidFill>
            <a:srgbClr val="E600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09728"/>
            <a:ext cx="10058400" cy="457200"/>
          </a:xfrm>
          <a:prstGeom prst="rect">
            <a:avLst/>
          </a:prstGeom>
          <a:noFill/>
        </p:spPr>
        <p:txBody>
          <a:bodyPr wrap="square" anchor="t" lIns="0" rIns="0" tIns="0" bIns="0">
            <a:spAutoFit/>
          </a:bodyPr>
          <a:lstStyle/>
          <a:p>
            <a:pPr algn="l"/>
            <a:r>
              <a:rPr sz="2200" b="1">
                <a:solidFill>
                  <a:srgbClr val="FFFFFF"/>
                </a:solidFill>
                <a:latin typeface="Calibri"/>
              </a:rPr>
              <a:t>Plateforme FinOps IA. Cartographie fonctionnelle</a:t>
            </a:r>
          </a:p>
        </p:txBody>
      </p:sp>
      <p:sp>
        <p:nvSpPr>
          <p:cNvPr id="5" name="TextBox 4"/>
          <p:cNvSpPr txBox="1"/>
          <p:nvPr/>
        </p:nvSpPr>
        <p:spPr>
          <a:xfrm>
            <a:off x="365760" y="457200"/>
            <a:ext cx="10058400" cy="320040"/>
          </a:xfrm>
          <a:prstGeom prst="rect">
            <a:avLst/>
          </a:prstGeom>
          <a:noFill/>
        </p:spPr>
        <p:txBody>
          <a:bodyPr wrap="square" anchor="t" lIns="0" rIns="0" tIns="0" bIns="0">
            <a:spAutoFit/>
          </a:bodyPr>
          <a:lstStyle/>
          <a:p>
            <a:pPr algn="l"/>
            <a:r>
              <a:rPr sz="1100" b="0">
                <a:solidFill>
                  <a:srgbClr val="C7D2E5"/>
                </a:solidFill>
                <a:latin typeface="Calibri"/>
              </a:rPr>
              <a:t>Une couverture end-to-end de la chaine de valeur d'un projet IA cloud</a:t>
            </a:r>
          </a:p>
        </p:txBody>
      </p:sp>
      <p:sp>
        <p:nvSpPr>
          <p:cNvPr id="6" name="TextBox 5"/>
          <p:cNvSpPr txBox="1"/>
          <p:nvPr/>
        </p:nvSpPr>
        <p:spPr>
          <a:xfrm>
            <a:off x="11155680" y="256032"/>
            <a:ext cx="914400" cy="320040"/>
          </a:xfrm>
          <a:prstGeom prst="rect">
            <a:avLst/>
          </a:prstGeom>
          <a:noFill/>
        </p:spPr>
        <p:txBody>
          <a:bodyPr wrap="square" anchor="t" lIns="0" rIns="0" tIns="0" bIns="0">
            <a:spAutoFit/>
          </a:bodyPr>
          <a:lstStyle/>
          <a:p>
            <a:pPr algn="r"/>
            <a:r>
              <a:rPr sz="1400" b="1">
                <a:solidFill>
                  <a:srgbClr val="FFFFFF"/>
                </a:solidFill>
                <a:latin typeface="Calibri"/>
              </a:rPr>
              <a:t>Sia</a:t>
            </a:r>
          </a:p>
        </p:txBody>
      </p:sp>
      <p:sp>
        <p:nvSpPr>
          <p:cNvPr id="7" name="Rectangle 6"/>
          <p:cNvSpPr/>
          <p:nvPr/>
        </p:nvSpPr>
        <p:spPr>
          <a:xfrm>
            <a:off x="365760" y="1051560"/>
            <a:ext cx="1558790" cy="457200"/>
          </a:xfrm>
          <a:prstGeom prst="rect">
            <a:avLst/>
          </a:prstGeom>
          <a:solidFill>
            <a:srgbClr val="0A1F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124712"/>
            <a:ext cx="1375910" cy="365760"/>
          </a:xfrm>
          <a:prstGeom prst="rect">
            <a:avLst/>
          </a:prstGeom>
          <a:noFill/>
        </p:spPr>
        <p:txBody>
          <a:bodyPr wrap="square" anchor="ctr" lIns="0" rIns="0" tIns="0" bIns="0">
            <a:spAutoFit/>
          </a:bodyPr>
          <a:lstStyle/>
          <a:p>
            <a:pPr algn="l"/>
            <a:r>
              <a:rPr sz="1200" b="1">
                <a:solidFill>
                  <a:srgbClr val="FFFFFF"/>
                </a:solidFill>
                <a:latin typeface="Calibri"/>
              </a:rPr>
              <a:t>1. Ingestion</a:t>
            </a:r>
          </a:p>
        </p:txBody>
      </p:sp>
      <p:sp>
        <p:nvSpPr>
          <p:cNvPr id="9" name="Rectangle 8"/>
          <p:cNvSpPr/>
          <p:nvPr/>
        </p:nvSpPr>
        <p:spPr>
          <a:xfrm>
            <a:off x="365760" y="1508760"/>
            <a:ext cx="1558790" cy="1463040"/>
          </a:xfrm>
          <a:prstGeom prst="rect">
            <a:avLst/>
          </a:prstGeom>
          <a:solidFill>
            <a:srgbClr val="F2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1600200"/>
            <a:ext cx="1339334" cy="1325880"/>
          </a:xfrm>
          <a:prstGeom prst="rect">
            <a:avLst/>
          </a:prstGeom>
          <a:noFill/>
        </p:spPr>
        <p:txBody>
          <a:bodyPr wrap="square" anchor="t" lIns="0" rIns="0" tIns="0" bIns="0">
            <a:spAutoFit/>
          </a:bodyPr>
          <a:lstStyle/>
          <a:p>
            <a:pPr algn="l"/>
            <a:r>
              <a:rPr sz="900" b="0">
                <a:solidFill>
                  <a:srgbClr val="0A1F44"/>
                </a:solidFill>
                <a:latin typeface="Calibri"/>
              </a:rPr>
              <a:t>OAuth GCP. STS AWS.
BigQuery export.
CSV / Excel.</a:t>
            </a:r>
          </a:p>
        </p:txBody>
      </p:sp>
      <p:sp>
        <p:nvSpPr>
          <p:cNvPr id="11" name="Rectangle 10"/>
          <p:cNvSpPr/>
          <p:nvPr/>
        </p:nvSpPr>
        <p:spPr>
          <a:xfrm>
            <a:off x="2015990" y="1051560"/>
            <a:ext cx="1558790" cy="457200"/>
          </a:xfrm>
          <a:prstGeom prst="rect">
            <a:avLst/>
          </a:prstGeom>
          <a:solidFill>
            <a:srgbClr val="143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107430" y="1124712"/>
            <a:ext cx="1375910" cy="365760"/>
          </a:xfrm>
          <a:prstGeom prst="rect">
            <a:avLst/>
          </a:prstGeom>
          <a:noFill/>
        </p:spPr>
        <p:txBody>
          <a:bodyPr wrap="square" anchor="ctr" lIns="0" rIns="0" tIns="0" bIns="0">
            <a:spAutoFit/>
          </a:bodyPr>
          <a:lstStyle/>
          <a:p>
            <a:pPr algn="l"/>
            <a:r>
              <a:rPr sz="1200" b="1">
                <a:solidFill>
                  <a:srgbClr val="FFFFFF"/>
                </a:solidFill>
                <a:latin typeface="Calibri"/>
              </a:rPr>
              <a:t>2. Preparation</a:t>
            </a:r>
          </a:p>
        </p:txBody>
      </p:sp>
      <p:sp>
        <p:nvSpPr>
          <p:cNvPr id="13" name="Rectangle 12"/>
          <p:cNvSpPr/>
          <p:nvPr/>
        </p:nvSpPr>
        <p:spPr>
          <a:xfrm>
            <a:off x="2015990" y="1508760"/>
            <a:ext cx="1558790" cy="1463040"/>
          </a:xfrm>
          <a:prstGeom prst="rect">
            <a:avLst/>
          </a:prstGeom>
          <a:solidFill>
            <a:srgbClr val="F2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125718" y="1600200"/>
            <a:ext cx="1339334" cy="1325880"/>
          </a:xfrm>
          <a:prstGeom prst="rect">
            <a:avLst/>
          </a:prstGeom>
          <a:noFill/>
        </p:spPr>
        <p:txBody>
          <a:bodyPr wrap="square" anchor="t" lIns="0" rIns="0" tIns="0" bIns="0">
            <a:spAutoFit/>
          </a:bodyPr>
          <a:lstStyle/>
          <a:p>
            <a:pPr algn="l"/>
            <a:r>
              <a:rPr sz="900" b="0">
                <a:solidFill>
                  <a:srgbClr val="0A1F44"/>
                </a:solidFill>
                <a:latin typeface="Calibri"/>
              </a:rPr>
              <a:t>STL. Stationnarite.
Distribution. ACF.
Missingness.</a:t>
            </a:r>
          </a:p>
        </p:txBody>
      </p:sp>
      <p:sp>
        <p:nvSpPr>
          <p:cNvPr id="15" name="Rectangle 14"/>
          <p:cNvSpPr/>
          <p:nvPr/>
        </p:nvSpPr>
        <p:spPr>
          <a:xfrm>
            <a:off x="3666221" y="1051560"/>
            <a:ext cx="1558790" cy="457200"/>
          </a:xfrm>
          <a:prstGeom prst="rect">
            <a:avLst/>
          </a:prstGeom>
          <a:solidFill>
            <a:srgbClr val="1E55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757661" y="1124712"/>
            <a:ext cx="1375910" cy="365760"/>
          </a:xfrm>
          <a:prstGeom prst="rect">
            <a:avLst/>
          </a:prstGeom>
          <a:noFill/>
        </p:spPr>
        <p:txBody>
          <a:bodyPr wrap="square" anchor="ctr" lIns="0" rIns="0" tIns="0" bIns="0">
            <a:spAutoFit/>
          </a:bodyPr>
          <a:lstStyle/>
          <a:p>
            <a:pPr algn="l"/>
            <a:r>
              <a:rPr sz="1200" b="1">
                <a:solidFill>
                  <a:srgbClr val="FFFFFF"/>
                </a:solidFill>
                <a:latin typeface="Calibri"/>
              </a:rPr>
              <a:t>3. Anomalies</a:t>
            </a:r>
          </a:p>
        </p:txBody>
      </p:sp>
      <p:sp>
        <p:nvSpPr>
          <p:cNvPr id="17" name="Rectangle 16"/>
          <p:cNvSpPr/>
          <p:nvPr/>
        </p:nvSpPr>
        <p:spPr>
          <a:xfrm>
            <a:off x="3666221" y="1508760"/>
            <a:ext cx="1558790" cy="1463040"/>
          </a:xfrm>
          <a:prstGeom prst="rect">
            <a:avLst/>
          </a:prstGeom>
          <a:solidFill>
            <a:srgbClr val="F2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775949" y="1600200"/>
            <a:ext cx="1339334" cy="1325880"/>
          </a:xfrm>
          <a:prstGeom prst="rect">
            <a:avLst/>
          </a:prstGeom>
          <a:noFill/>
        </p:spPr>
        <p:txBody>
          <a:bodyPr wrap="square" anchor="t" lIns="0" rIns="0" tIns="0" bIns="0">
            <a:spAutoFit/>
          </a:bodyPr>
          <a:lstStyle/>
          <a:p>
            <a:pPr algn="l"/>
            <a:r>
              <a:rPr sz="900" b="0">
                <a:solidFill>
                  <a:srgbClr val="0A1F44"/>
                </a:solidFill>
                <a:latin typeface="Calibri"/>
              </a:rPr>
              <a:t>Outliers.
Drift detection.
Alertes precoces.</a:t>
            </a:r>
          </a:p>
        </p:txBody>
      </p:sp>
      <p:sp>
        <p:nvSpPr>
          <p:cNvPr id="19" name="Rectangle 18"/>
          <p:cNvSpPr/>
          <p:nvPr/>
        </p:nvSpPr>
        <p:spPr>
          <a:xfrm>
            <a:off x="5316452" y="1051560"/>
            <a:ext cx="1558790" cy="457200"/>
          </a:xfrm>
          <a:prstGeom prst="rect">
            <a:avLst/>
          </a:prstGeom>
          <a:solidFill>
            <a:srgbClr val="367A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07892" y="1124712"/>
            <a:ext cx="1375910" cy="365760"/>
          </a:xfrm>
          <a:prstGeom prst="rect">
            <a:avLst/>
          </a:prstGeom>
          <a:noFill/>
        </p:spPr>
        <p:txBody>
          <a:bodyPr wrap="square" anchor="ctr" lIns="0" rIns="0" tIns="0" bIns="0">
            <a:spAutoFit/>
          </a:bodyPr>
          <a:lstStyle/>
          <a:p>
            <a:pPr algn="l"/>
            <a:r>
              <a:rPr sz="1200" b="1">
                <a:solidFill>
                  <a:srgbClr val="FFFFFF"/>
                </a:solidFill>
                <a:latin typeface="Calibri"/>
              </a:rPr>
              <a:t>4. Modelisation</a:t>
            </a:r>
          </a:p>
        </p:txBody>
      </p:sp>
      <p:sp>
        <p:nvSpPr>
          <p:cNvPr id="21" name="Rectangle 20"/>
          <p:cNvSpPr/>
          <p:nvPr/>
        </p:nvSpPr>
        <p:spPr>
          <a:xfrm>
            <a:off x="5316452" y="1508760"/>
            <a:ext cx="1558790" cy="1463040"/>
          </a:xfrm>
          <a:prstGeom prst="rect">
            <a:avLst/>
          </a:prstGeom>
          <a:solidFill>
            <a:srgbClr val="F2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26180" y="1600200"/>
            <a:ext cx="1339334" cy="1325880"/>
          </a:xfrm>
          <a:prstGeom prst="rect">
            <a:avLst/>
          </a:prstGeom>
          <a:noFill/>
        </p:spPr>
        <p:txBody>
          <a:bodyPr wrap="square" anchor="t" lIns="0" rIns="0" tIns="0" bIns="0">
            <a:spAutoFit/>
          </a:bodyPr>
          <a:lstStyle/>
          <a:p>
            <a:pPr algn="l"/>
            <a:r>
              <a:rPr sz="900" b="0">
                <a:solidFill>
                  <a:srgbClr val="0A1F44"/>
                </a:solidFill>
                <a:latin typeface="Calibri"/>
              </a:rPr>
              <a:t>6 modeles + ensemble.
Walk-forward CV.
IC 80% / 95%.</a:t>
            </a:r>
          </a:p>
        </p:txBody>
      </p:sp>
      <p:sp>
        <p:nvSpPr>
          <p:cNvPr id="23" name="Rectangle 22"/>
          <p:cNvSpPr/>
          <p:nvPr/>
        </p:nvSpPr>
        <p:spPr>
          <a:xfrm>
            <a:off x="6966682" y="1051560"/>
            <a:ext cx="1558790" cy="457200"/>
          </a:xfrm>
          <a:prstGeom prst="rect">
            <a:avLst/>
          </a:prstGeom>
          <a:solidFill>
            <a:srgbClr val="5B9B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058122" y="1124712"/>
            <a:ext cx="1375910" cy="365760"/>
          </a:xfrm>
          <a:prstGeom prst="rect">
            <a:avLst/>
          </a:prstGeom>
          <a:noFill/>
        </p:spPr>
        <p:txBody>
          <a:bodyPr wrap="square" anchor="ctr" lIns="0" rIns="0" tIns="0" bIns="0">
            <a:spAutoFit/>
          </a:bodyPr>
          <a:lstStyle/>
          <a:p>
            <a:pPr algn="l"/>
            <a:r>
              <a:rPr sz="1200" b="1">
                <a:solidFill>
                  <a:srgbClr val="FFFFFF"/>
                </a:solidFill>
                <a:latin typeface="Calibri"/>
              </a:rPr>
              <a:t>5. Simulation</a:t>
            </a:r>
          </a:p>
        </p:txBody>
      </p:sp>
      <p:sp>
        <p:nvSpPr>
          <p:cNvPr id="25" name="Rectangle 24"/>
          <p:cNvSpPr/>
          <p:nvPr/>
        </p:nvSpPr>
        <p:spPr>
          <a:xfrm>
            <a:off x="6966682" y="1508760"/>
            <a:ext cx="1558790" cy="1463040"/>
          </a:xfrm>
          <a:prstGeom prst="rect">
            <a:avLst/>
          </a:prstGeom>
          <a:solidFill>
            <a:srgbClr val="F2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076410" y="1600200"/>
            <a:ext cx="1339334" cy="1325880"/>
          </a:xfrm>
          <a:prstGeom prst="rect">
            <a:avLst/>
          </a:prstGeom>
          <a:noFill/>
        </p:spPr>
        <p:txBody>
          <a:bodyPr wrap="square" anchor="t" lIns="0" rIns="0" tIns="0" bIns="0">
            <a:spAutoFit/>
          </a:bodyPr>
          <a:lstStyle/>
          <a:p>
            <a:pPr algn="l"/>
            <a:r>
              <a:rPr sz="900" b="0">
                <a:solidFill>
                  <a:srgbClr val="0A1F44"/>
                </a:solidFill>
                <a:latin typeface="Calibri"/>
              </a:rPr>
              <a:t>Cout projet IA.
Reco archi.
Matrice de risques.</a:t>
            </a:r>
          </a:p>
        </p:txBody>
      </p:sp>
      <p:sp>
        <p:nvSpPr>
          <p:cNvPr id="27" name="Rectangle 26"/>
          <p:cNvSpPr/>
          <p:nvPr/>
        </p:nvSpPr>
        <p:spPr>
          <a:xfrm>
            <a:off x="8616913" y="1051560"/>
            <a:ext cx="1558790" cy="457200"/>
          </a:xfrm>
          <a:prstGeom prst="rect">
            <a:avLst/>
          </a:prstGeom>
          <a:solidFill>
            <a:srgbClr val="8FB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708353" y="1124712"/>
            <a:ext cx="1375910" cy="365760"/>
          </a:xfrm>
          <a:prstGeom prst="rect">
            <a:avLst/>
          </a:prstGeom>
          <a:noFill/>
        </p:spPr>
        <p:txBody>
          <a:bodyPr wrap="square" anchor="ctr" lIns="0" rIns="0" tIns="0" bIns="0">
            <a:spAutoFit/>
          </a:bodyPr>
          <a:lstStyle/>
          <a:p>
            <a:pPr algn="l"/>
            <a:r>
              <a:rPr sz="1200" b="1">
                <a:solidFill>
                  <a:srgbClr val="FFFFFF"/>
                </a:solidFill>
                <a:latin typeface="Calibri"/>
              </a:rPr>
              <a:t>6. Consommation</a:t>
            </a:r>
          </a:p>
        </p:txBody>
      </p:sp>
      <p:sp>
        <p:nvSpPr>
          <p:cNvPr id="29" name="Rectangle 28"/>
          <p:cNvSpPr/>
          <p:nvPr/>
        </p:nvSpPr>
        <p:spPr>
          <a:xfrm>
            <a:off x="8616913" y="1508760"/>
            <a:ext cx="1558790" cy="1463040"/>
          </a:xfrm>
          <a:prstGeom prst="rect">
            <a:avLst/>
          </a:prstGeom>
          <a:solidFill>
            <a:srgbClr val="F2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726641" y="1600200"/>
            <a:ext cx="1339334" cy="1325880"/>
          </a:xfrm>
          <a:prstGeom prst="rect">
            <a:avLst/>
          </a:prstGeom>
          <a:noFill/>
        </p:spPr>
        <p:txBody>
          <a:bodyPr wrap="square" anchor="t" lIns="0" rIns="0" tIns="0" bIns="0">
            <a:spAutoFit/>
          </a:bodyPr>
          <a:lstStyle/>
          <a:p>
            <a:pPr algn="l"/>
            <a:r>
              <a:rPr sz="900" b="0">
                <a:solidFill>
                  <a:srgbClr val="0A1F44"/>
                </a:solidFill>
                <a:latin typeface="Calibri"/>
              </a:rPr>
              <a:t>Dashboard Next.js.
Agent MCP.
Historique conv.</a:t>
            </a:r>
          </a:p>
        </p:txBody>
      </p:sp>
      <p:sp>
        <p:nvSpPr>
          <p:cNvPr id="31" name="Rectangle 30"/>
          <p:cNvSpPr/>
          <p:nvPr/>
        </p:nvSpPr>
        <p:spPr>
          <a:xfrm>
            <a:off x="10267144" y="1051560"/>
            <a:ext cx="1558790" cy="457200"/>
          </a:xfrm>
          <a:prstGeom prst="rect">
            <a:avLst/>
          </a:prstGeom>
          <a:solidFill>
            <a:srgbClr val="B8D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358584" y="1124712"/>
            <a:ext cx="1375910" cy="365760"/>
          </a:xfrm>
          <a:prstGeom prst="rect">
            <a:avLst/>
          </a:prstGeom>
          <a:noFill/>
        </p:spPr>
        <p:txBody>
          <a:bodyPr wrap="square" anchor="ctr" lIns="0" rIns="0" tIns="0" bIns="0">
            <a:spAutoFit/>
          </a:bodyPr>
          <a:lstStyle/>
          <a:p>
            <a:pPr algn="l"/>
            <a:r>
              <a:rPr sz="1200" b="1">
                <a:solidFill>
                  <a:srgbClr val="FFFFFF"/>
                </a:solidFill>
                <a:latin typeface="Calibri"/>
              </a:rPr>
              <a:t>7. Gouvernance</a:t>
            </a:r>
          </a:p>
        </p:txBody>
      </p:sp>
      <p:sp>
        <p:nvSpPr>
          <p:cNvPr id="33" name="Rectangle 32"/>
          <p:cNvSpPr/>
          <p:nvPr/>
        </p:nvSpPr>
        <p:spPr>
          <a:xfrm>
            <a:off x="10267144" y="1508760"/>
            <a:ext cx="1558790" cy="1463040"/>
          </a:xfrm>
          <a:prstGeom prst="rect">
            <a:avLst/>
          </a:prstGeom>
          <a:solidFill>
            <a:srgbClr val="F2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376872" y="1600200"/>
            <a:ext cx="1339334" cy="1325880"/>
          </a:xfrm>
          <a:prstGeom prst="rect">
            <a:avLst/>
          </a:prstGeom>
          <a:noFill/>
        </p:spPr>
        <p:txBody>
          <a:bodyPr wrap="square" anchor="t" lIns="0" rIns="0" tIns="0" bIns="0">
            <a:spAutoFit/>
          </a:bodyPr>
          <a:lstStyle/>
          <a:p>
            <a:pPr algn="l"/>
            <a:r>
              <a:rPr sz="900" b="0">
                <a:solidFill>
                  <a:srgbClr val="0A1F44"/>
                </a:solidFill>
                <a:latin typeface="Calibri"/>
              </a:rPr>
              <a:t>API key. CSRF.
CORS strict.
SecScan CI.</a:t>
            </a:r>
          </a:p>
        </p:txBody>
      </p:sp>
      <p:sp>
        <p:nvSpPr>
          <p:cNvPr id="35" name="Rectangle 34"/>
          <p:cNvSpPr/>
          <p:nvPr/>
        </p:nvSpPr>
        <p:spPr>
          <a:xfrm>
            <a:off x="365760" y="3246120"/>
            <a:ext cx="3759098" cy="411480"/>
          </a:xfrm>
          <a:prstGeom prst="rect">
            <a:avLst/>
          </a:prstGeom>
          <a:solidFill>
            <a:srgbClr val="E600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02920" y="3300984"/>
            <a:ext cx="3484778" cy="320040"/>
          </a:xfrm>
          <a:prstGeom prst="rect">
            <a:avLst/>
          </a:prstGeom>
          <a:noFill/>
        </p:spPr>
        <p:txBody>
          <a:bodyPr wrap="square" anchor="ctr" lIns="0" rIns="0" tIns="0" bIns="0">
            <a:spAutoFit/>
          </a:bodyPr>
          <a:lstStyle/>
          <a:p>
            <a:pPr algn="l"/>
            <a:r>
              <a:rPr sz="1300" b="1">
                <a:solidFill>
                  <a:srgbClr val="FFFFFF"/>
                </a:solidFill>
                <a:latin typeface="Calibri"/>
              </a:rPr>
              <a:t>Pour le CFO</a:t>
            </a:r>
          </a:p>
        </p:txBody>
      </p:sp>
      <p:sp>
        <p:nvSpPr>
          <p:cNvPr id="37" name="Rectangle 36"/>
          <p:cNvSpPr/>
          <p:nvPr/>
        </p:nvSpPr>
        <p:spPr>
          <a:xfrm>
            <a:off x="365760" y="3657600"/>
            <a:ext cx="3759098" cy="2011680"/>
          </a:xfrm>
          <a:prstGeom prst="rect">
            <a:avLst/>
          </a:prstGeom>
          <a:solidFill>
            <a:srgbClr val="FFFFFF"/>
          </a:solidFill>
          <a:ln>
            <a:solidFill>
              <a:srgbClr val="E600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48640" y="3794760"/>
            <a:ext cx="3393338" cy="1783080"/>
          </a:xfrm>
          <a:prstGeom prst="rect">
            <a:avLst/>
          </a:prstGeom>
          <a:noFill/>
        </p:spPr>
        <p:txBody>
          <a:bodyPr wrap="square" anchor="t" lIns="0" rIns="0" tIns="0" bIns="0">
            <a:spAutoFit/>
          </a:bodyPr>
          <a:lstStyle/>
          <a:p>
            <a:pPr algn="l"/>
            <a:r>
              <a:rPr sz="1100" b="0">
                <a:solidFill>
                  <a:srgbClr val="0A1F44"/>
                </a:solidFill>
                <a:latin typeface="Calibri"/>
              </a:rPr>
              <a:t>Prevision de facture a 90 jours avec fourchette d'incertitude.
Chiffrage a priori d'un projet IA avant engagement budgetaire.
Detection precoce des derives de consommation.</a:t>
            </a:r>
          </a:p>
        </p:txBody>
      </p:sp>
      <p:sp>
        <p:nvSpPr>
          <p:cNvPr id="39" name="Rectangle 38"/>
          <p:cNvSpPr/>
          <p:nvPr/>
        </p:nvSpPr>
        <p:spPr>
          <a:xfrm>
            <a:off x="4216298" y="3246120"/>
            <a:ext cx="3759098" cy="411480"/>
          </a:xfrm>
          <a:prstGeom prst="rect">
            <a:avLst/>
          </a:prstGeom>
          <a:solidFill>
            <a:srgbClr val="0A1F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353458" y="3300984"/>
            <a:ext cx="3484778" cy="320040"/>
          </a:xfrm>
          <a:prstGeom prst="rect">
            <a:avLst/>
          </a:prstGeom>
          <a:noFill/>
        </p:spPr>
        <p:txBody>
          <a:bodyPr wrap="square" anchor="ctr" lIns="0" rIns="0" tIns="0" bIns="0">
            <a:spAutoFit/>
          </a:bodyPr>
          <a:lstStyle/>
          <a:p>
            <a:pPr algn="l"/>
            <a:r>
              <a:rPr sz="1300" b="1">
                <a:solidFill>
                  <a:srgbClr val="FFFFFF"/>
                </a:solidFill>
                <a:latin typeface="Calibri"/>
              </a:rPr>
              <a:t>Pour le DSI</a:t>
            </a:r>
          </a:p>
        </p:txBody>
      </p:sp>
      <p:sp>
        <p:nvSpPr>
          <p:cNvPr id="41" name="Rectangle 40"/>
          <p:cNvSpPr/>
          <p:nvPr/>
        </p:nvSpPr>
        <p:spPr>
          <a:xfrm>
            <a:off x="4216298" y="3657600"/>
            <a:ext cx="3759098" cy="2011680"/>
          </a:xfrm>
          <a:prstGeom prst="rect">
            <a:avLst/>
          </a:prstGeom>
          <a:solidFill>
            <a:srgbClr val="FFFFFF"/>
          </a:solidFill>
          <a:ln>
            <a:solidFill>
              <a:srgbClr val="0A1F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399178" y="3794760"/>
            <a:ext cx="3393338" cy="1783080"/>
          </a:xfrm>
          <a:prstGeom prst="rect">
            <a:avLst/>
          </a:prstGeom>
          <a:noFill/>
        </p:spPr>
        <p:txBody>
          <a:bodyPr wrap="square" anchor="t" lIns="0" rIns="0" tIns="0" bIns="0">
            <a:spAutoFit/>
          </a:bodyPr>
          <a:lstStyle/>
          <a:p>
            <a:pPr algn="l"/>
            <a:r>
              <a:rPr sz="1100" b="0">
                <a:solidFill>
                  <a:srgbClr val="0A1F44"/>
                </a:solidFill>
                <a:latin typeface="Calibri"/>
              </a:rPr>
              <a:t>Vision multi-cloud unifiee AWS + GCP.
Agent conversationnel qui democratise le FinOps.
Securite et IaC pretes pour audit.</a:t>
            </a:r>
          </a:p>
        </p:txBody>
      </p:sp>
      <p:sp>
        <p:nvSpPr>
          <p:cNvPr id="43" name="Rectangle 42"/>
          <p:cNvSpPr/>
          <p:nvPr/>
        </p:nvSpPr>
        <p:spPr>
          <a:xfrm>
            <a:off x="8066836" y="3246120"/>
            <a:ext cx="3759098" cy="411480"/>
          </a:xfrm>
          <a:prstGeom prst="rect">
            <a:avLst/>
          </a:prstGeom>
          <a:solidFill>
            <a:srgbClr val="1E55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203996" y="3300984"/>
            <a:ext cx="3484778" cy="320040"/>
          </a:xfrm>
          <a:prstGeom prst="rect">
            <a:avLst/>
          </a:prstGeom>
          <a:noFill/>
        </p:spPr>
        <p:txBody>
          <a:bodyPr wrap="square" anchor="ctr" lIns="0" rIns="0" tIns="0" bIns="0">
            <a:spAutoFit/>
          </a:bodyPr>
          <a:lstStyle/>
          <a:p>
            <a:pPr algn="l"/>
            <a:r>
              <a:rPr sz="1300" b="1">
                <a:solidFill>
                  <a:srgbClr val="FFFFFF"/>
                </a:solidFill>
                <a:latin typeface="Calibri"/>
              </a:rPr>
              <a:t>Pour le FinOps Lead</a:t>
            </a:r>
          </a:p>
        </p:txBody>
      </p:sp>
      <p:sp>
        <p:nvSpPr>
          <p:cNvPr id="45" name="Rectangle 44"/>
          <p:cNvSpPr/>
          <p:nvPr/>
        </p:nvSpPr>
        <p:spPr>
          <a:xfrm>
            <a:off x="8066836" y="3657600"/>
            <a:ext cx="3759098" cy="2011680"/>
          </a:xfrm>
          <a:prstGeom prst="rect">
            <a:avLst/>
          </a:prstGeom>
          <a:solidFill>
            <a:srgbClr val="FFFFFF"/>
          </a:solidFill>
          <a:ln>
            <a:solidFill>
              <a:srgbClr val="1E55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249716" y="3794760"/>
            <a:ext cx="3393338" cy="1783080"/>
          </a:xfrm>
          <a:prstGeom prst="rect">
            <a:avLst/>
          </a:prstGeom>
          <a:noFill/>
        </p:spPr>
        <p:txBody>
          <a:bodyPr wrap="square" anchor="t" lIns="0" rIns="0" tIns="0" bIns="0">
            <a:spAutoFit/>
          </a:bodyPr>
          <a:lstStyle/>
          <a:p>
            <a:pPr algn="l"/>
            <a:r>
              <a:rPr sz="1100" b="0">
                <a:solidFill>
                  <a:srgbClr val="0A1F44"/>
                </a:solidFill>
                <a:latin typeface="Calibri"/>
              </a:rPr>
              <a:t>EDA industrialisee, STL, drift et anomalies en un clic.
Benchmark automatique de 6 modeles.
Extensible via catalogue d'outils MCP.</a:t>
            </a:r>
          </a:p>
        </p:txBody>
      </p:sp>
      <p:sp>
        <p:nvSpPr>
          <p:cNvPr id="47" name="Rectangle 46"/>
          <p:cNvSpPr/>
          <p:nvPr/>
        </p:nvSpPr>
        <p:spPr>
          <a:xfrm>
            <a:off x="365760" y="5852160"/>
            <a:ext cx="11460175" cy="502920"/>
          </a:xfrm>
          <a:prstGeom prst="rect">
            <a:avLst/>
          </a:prstGeom>
          <a:solidFill>
            <a:srgbClr val="0A1F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40080" y="5897880"/>
            <a:ext cx="10911535" cy="411480"/>
          </a:xfrm>
          <a:prstGeom prst="rect">
            <a:avLst/>
          </a:prstGeom>
          <a:noFill/>
        </p:spPr>
        <p:txBody>
          <a:bodyPr wrap="square" anchor="ctr" lIns="0" rIns="0" tIns="0" bIns="0">
            <a:spAutoFit/>
          </a:bodyPr>
          <a:lstStyle/>
          <a:p>
            <a:pPr algn="l"/>
            <a:r>
              <a:rPr sz="1300" b="1">
                <a:solidFill>
                  <a:srgbClr val="FFFFFF"/>
                </a:solidFill>
                <a:latin typeface="Calibri"/>
              </a:rPr>
              <a:t>Un seul outil, trois personas, sept etapes de la chaine de valeur IA. AWS et GCP couverts nativement.</a:t>
            </a:r>
          </a:p>
        </p:txBody>
      </p:sp>
      <p:sp>
        <p:nvSpPr>
          <p:cNvPr id="49" name="TextBox 48"/>
          <p:cNvSpPr txBox="1"/>
          <p:nvPr/>
        </p:nvSpPr>
        <p:spPr>
          <a:xfrm>
            <a:off x="365760" y="6537960"/>
            <a:ext cx="9144000" cy="274320"/>
          </a:xfrm>
          <a:prstGeom prst="rect">
            <a:avLst/>
          </a:prstGeom>
          <a:noFill/>
        </p:spPr>
        <p:txBody>
          <a:bodyPr wrap="square" anchor="t" lIns="0" rIns="0" tIns="0" bIns="0">
            <a:spAutoFit/>
          </a:bodyPr>
          <a:lstStyle/>
          <a:p>
            <a:pPr algn="l"/>
            <a:r>
              <a:rPr sz="900" b="0">
                <a:solidFill>
                  <a:srgbClr val="555F6D"/>
                </a:solidFill>
                <a:latin typeface="Calibri"/>
              </a:rPr>
              <a:t>Sia. FinOps AI Platform. Confidential.</a:t>
            </a:r>
          </a:p>
        </p:txBody>
      </p:sp>
      <p:sp>
        <p:nvSpPr>
          <p:cNvPr id="50" name="TextBox 49"/>
          <p:cNvSpPr txBox="1"/>
          <p:nvPr/>
        </p:nvSpPr>
        <p:spPr>
          <a:xfrm>
            <a:off x="11430000" y="6537960"/>
            <a:ext cx="548640" cy="274320"/>
          </a:xfrm>
          <a:prstGeom prst="rect">
            <a:avLst/>
          </a:prstGeom>
          <a:noFill/>
        </p:spPr>
        <p:txBody>
          <a:bodyPr wrap="square" anchor="t" lIns="0" rIns="0" tIns="0" bIns="0">
            <a:spAutoFit/>
          </a:bodyPr>
          <a:lstStyle/>
          <a:p>
            <a:pPr algn="r"/>
            <a:r>
              <a:rPr sz="900" b="0">
                <a:solidFill>
                  <a:srgbClr val="555F6D"/>
                </a:solidFill>
                <a:latin typeface="Calibri"/>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0A1F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77240"/>
            <a:ext cx="12191695" cy="45720"/>
          </a:xfrm>
          <a:prstGeom prst="rect">
            <a:avLst/>
          </a:prstGeom>
          <a:solidFill>
            <a:srgbClr val="E600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09728"/>
            <a:ext cx="10058400" cy="457200"/>
          </a:xfrm>
          <a:prstGeom prst="rect">
            <a:avLst/>
          </a:prstGeom>
          <a:noFill/>
        </p:spPr>
        <p:txBody>
          <a:bodyPr wrap="square" anchor="t" lIns="0" rIns="0" tIns="0" bIns="0">
            <a:spAutoFit/>
          </a:bodyPr>
          <a:lstStyle/>
          <a:p>
            <a:pPr algn="l"/>
            <a:r>
              <a:rPr sz="2200" b="1">
                <a:solidFill>
                  <a:srgbClr val="FFFFFF"/>
                </a:solidFill>
                <a:latin typeface="Calibri"/>
              </a:rPr>
              <a:t>Simulation projet IA. Exemple chiffre</a:t>
            </a:r>
          </a:p>
        </p:txBody>
      </p:sp>
      <p:sp>
        <p:nvSpPr>
          <p:cNvPr id="5" name="TextBox 4"/>
          <p:cNvSpPr txBox="1"/>
          <p:nvPr/>
        </p:nvSpPr>
        <p:spPr>
          <a:xfrm>
            <a:off x="365760" y="457200"/>
            <a:ext cx="10058400" cy="320040"/>
          </a:xfrm>
          <a:prstGeom prst="rect">
            <a:avLst/>
          </a:prstGeom>
          <a:noFill/>
        </p:spPr>
        <p:txBody>
          <a:bodyPr wrap="square" anchor="t" lIns="0" rIns="0" tIns="0" bIns="0">
            <a:spAutoFit/>
          </a:bodyPr>
          <a:lstStyle/>
          <a:p>
            <a:pPr algn="l"/>
            <a:r>
              <a:rPr sz="1100" b="0">
                <a:solidFill>
                  <a:srgbClr val="C7D2E5"/>
                </a:solidFill>
                <a:latin typeface="Calibri"/>
              </a:rPr>
              <a:t>Assistant RAG interne. 500 utilisateurs. Deploiement GCP.</a:t>
            </a:r>
          </a:p>
        </p:txBody>
      </p:sp>
      <p:sp>
        <p:nvSpPr>
          <p:cNvPr id="6" name="TextBox 5"/>
          <p:cNvSpPr txBox="1"/>
          <p:nvPr/>
        </p:nvSpPr>
        <p:spPr>
          <a:xfrm>
            <a:off x="11155680" y="256032"/>
            <a:ext cx="914400" cy="320040"/>
          </a:xfrm>
          <a:prstGeom prst="rect">
            <a:avLst/>
          </a:prstGeom>
          <a:noFill/>
        </p:spPr>
        <p:txBody>
          <a:bodyPr wrap="square" anchor="t" lIns="0" rIns="0" tIns="0" bIns="0">
            <a:spAutoFit/>
          </a:bodyPr>
          <a:lstStyle/>
          <a:p>
            <a:pPr algn="r"/>
            <a:r>
              <a:rPr sz="1400" b="1">
                <a:solidFill>
                  <a:srgbClr val="FFFFFF"/>
                </a:solidFill>
                <a:latin typeface="Calibri"/>
              </a:rPr>
              <a:t>Sia</a:t>
            </a:r>
          </a:p>
        </p:txBody>
      </p:sp>
      <p:sp>
        <p:nvSpPr>
          <p:cNvPr id="7" name="Rectangle 6"/>
          <p:cNvSpPr/>
          <p:nvPr/>
        </p:nvSpPr>
        <p:spPr>
          <a:xfrm>
            <a:off x="365760" y="1051560"/>
            <a:ext cx="3657600" cy="365760"/>
          </a:xfrm>
          <a:prstGeom prst="rect">
            <a:avLst/>
          </a:prstGeom>
          <a:solidFill>
            <a:srgbClr val="0A1F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1088136"/>
            <a:ext cx="3383280" cy="292608"/>
          </a:xfrm>
          <a:prstGeom prst="rect">
            <a:avLst/>
          </a:prstGeom>
          <a:noFill/>
        </p:spPr>
        <p:txBody>
          <a:bodyPr wrap="square" anchor="ctr" lIns="0" rIns="0" tIns="0" bIns="0">
            <a:spAutoFit/>
          </a:bodyPr>
          <a:lstStyle/>
          <a:p>
            <a:pPr algn="l"/>
            <a:r>
              <a:rPr sz="1300" b="1">
                <a:solidFill>
                  <a:srgbClr val="FFFFFF"/>
                </a:solidFill>
                <a:latin typeface="Calibri"/>
              </a:rPr>
              <a:t>Hypotheses de scenario</a:t>
            </a:r>
          </a:p>
        </p:txBody>
      </p:sp>
      <p:sp>
        <p:nvSpPr>
          <p:cNvPr id="9" name="Rectangle 8"/>
          <p:cNvSpPr/>
          <p:nvPr/>
        </p:nvSpPr>
        <p:spPr>
          <a:xfrm>
            <a:off x="365760" y="1463040"/>
            <a:ext cx="3657600" cy="292608"/>
          </a:xfrm>
          <a:prstGeom prst="rect">
            <a:avLst/>
          </a:prstGeom>
          <a:solidFill>
            <a:srgbClr val="F2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1499616"/>
            <a:ext cx="1554480" cy="256032"/>
          </a:xfrm>
          <a:prstGeom prst="rect">
            <a:avLst/>
          </a:prstGeom>
          <a:noFill/>
        </p:spPr>
        <p:txBody>
          <a:bodyPr wrap="square" anchor="t" lIns="0" rIns="0" tIns="0" bIns="0">
            <a:spAutoFit/>
          </a:bodyPr>
          <a:lstStyle/>
          <a:p>
            <a:pPr algn="l"/>
            <a:r>
              <a:rPr sz="1000" b="1">
                <a:solidFill>
                  <a:srgbClr val="0A1F44"/>
                </a:solidFill>
                <a:latin typeface="Calibri"/>
              </a:rPr>
              <a:t>Cas d'usage</a:t>
            </a:r>
          </a:p>
        </p:txBody>
      </p:sp>
      <p:sp>
        <p:nvSpPr>
          <p:cNvPr id="11" name="TextBox 10"/>
          <p:cNvSpPr txBox="1"/>
          <p:nvPr/>
        </p:nvSpPr>
        <p:spPr>
          <a:xfrm>
            <a:off x="2057400" y="1499616"/>
            <a:ext cx="1920240" cy="256032"/>
          </a:xfrm>
          <a:prstGeom prst="rect">
            <a:avLst/>
          </a:prstGeom>
          <a:noFill/>
        </p:spPr>
        <p:txBody>
          <a:bodyPr wrap="square" anchor="t" lIns="0" rIns="0" tIns="0" bIns="0">
            <a:spAutoFit/>
          </a:bodyPr>
          <a:lstStyle/>
          <a:p>
            <a:pPr algn="l"/>
            <a:r>
              <a:rPr sz="1000" b="0">
                <a:solidFill>
                  <a:srgbClr val="555F6D"/>
                </a:solidFill>
                <a:latin typeface="Calibri"/>
              </a:rPr>
              <a:t>Assistant RAG documentaire interne</a:t>
            </a:r>
          </a:p>
        </p:txBody>
      </p:sp>
      <p:sp>
        <p:nvSpPr>
          <p:cNvPr id="12" name="Rectangle 11"/>
          <p:cNvSpPr/>
          <p:nvPr/>
        </p:nvSpPr>
        <p:spPr>
          <a:xfrm>
            <a:off x="365760" y="1755648"/>
            <a:ext cx="3657600"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1792224"/>
            <a:ext cx="1554480" cy="256032"/>
          </a:xfrm>
          <a:prstGeom prst="rect">
            <a:avLst/>
          </a:prstGeom>
          <a:noFill/>
        </p:spPr>
        <p:txBody>
          <a:bodyPr wrap="square" anchor="t" lIns="0" rIns="0" tIns="0" bIns="0">
            <a:spAutoFit/>
          </a:bodyPr>
          <a:lstStyle/>
          <a:p>
            <a:pPr algn="l"/>
            <a:r>
              <a:rPr sz="1000" b="1">
                <a:solidFill>
                  <a:srgbClr val="0A1F44"/>
                </a:solidFill>
                <a:latin typeface="Calibri"/>
              </a:rPr>
              <a:t>Utilisateurs actifs</a:t>
            </a:r>
          </a:p>
        </p:txBody>
      </p:sp>
      <p:sp>
        <p:nvSpPr>
          <p:cNvPr id="14" name="TextBox 13"/>
          <p:cNvSpPr txBox="1"/>
          <p:nvPr/>
        </p:nvSpPr>
        <p:spPr>
          <a:xfrm>
            <a:off x="2057400" y="1792224"/>
            <a:ext cx="1920240" cy="256032"/>
          </a:xfrm>
          <a:prstGeom prst="rect">
            <a:avLst/>
          </a:prstGeom>
          <a:noFill/>
        </p:spPr>
        <p:txBody>
          <a:bodyPr wrap="square" anchor="t" lIns="0" rIns="0" tIns="0" bIns="0">
            <a:spAutoFit/>
          </a:bodyPr>
          <a:lstStyle/>
          <a:p>
            <a:pPr algn="l"/>
            <a:r>
              <a:rPr sz="1000" b="0">
                <a:solidFill>
                  <a:srgbClr val="555F6D"/>
                </a:solidFill>
                <a:latin typeface="Calibri"/>
              </a:rPr>
              <a:t>500 / mois</a:t>
            </a:r>
          </a:p>
        </p:txBody>
      </p:sp>
      <p:sp>
        <p:nvSpPr>
          <p:cNvPr id="15" name="Rectangle 14"/>
          <p:cNvSpPr/>
          <p:nvPr/>
        </p:nvSpPr>
        <p:spPr>
          <a:xfrm>
            <a:off x="365760" y="2048256"/>
            <a:ext cx="3657600" cy="292608"/>
          </a:xfrm>
          <a:prstGeom prst="rect">
            <a:avLst/>
          </a:prstGeom>
          <a:solidFill>
            <a:srgbClr val="F2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 y="2084832"/>
            <a:ext cx="1554480" cy="256032"/>
          </a:xfrm>
          <a:prstGeom prst="rect">
            <a:avLst/>
          </a:prstGeom>
          <a:noFill/>
        </p:spPr>
        <p:txBody>
          <a:bodyPr wrap="square" anchor="t" lIns="0" rIns="0" tIns="0" bIns="0">
            <a:spAutoFit/>
          </a:bodyPr>
          <a:lstStyle/>
          <a:p>
            <a:pPr algn="l"/>
            <a:r>
              <a:rPr sz="1000" b="1">
                <a:solidFill>
                  <a:srgbClr val="0A1F44"/>
                </a:solidFill>
                <a:latin typeface="Calibri"/>
              </a:rPr>
              <a:t>Requetes moyennes</a:t>
            </a:r>
          </a:p>
        </p:txBody>
      </p:sp>
      <p:sp>
        <p:nvSpPr>
          <p:cNvPr id="17" name="TextBox 16"/>
          <p:cNvSpPr txBox="1"/>
          <p:nvPr/>
        </p:nvSpPr>
        <p:spPr>
          <a:xfrm>
            <a:off x="2057400" y="2084832"/>
            <a:ext cx="1920240" cy="256032"/>
          </a:xfrm>
          <a:prstGeom prst="rect">
            <a:avLst/>
          </a:prstGeom>
          <a:noFill/>
        </p:spPr>
        <p:txBody>
          <a:bodyPr wrap="square" anchor="t" lIns="0" rIns="0" tIns="0" bIns="0">
            <a:spAutoFit/>
          </a:bodyPr>
          <a:lstStyle/>
          <a:p>
            <a:pPr algn="l"/>
            <a:r>
              <a:rPr sz="1000" b="0">
                <a:solidFill>
                  <a:srgbClr val="555F6D"/>
                </a:solidFill>
                <a:latin typeface="Calibri"/>
              </a:rPr>
              <a:t>40 par utilisateur / mois</a:t>
            </a:r>
          </a:p>
        </p:txBody>
      </p:sp>
      <p:sp>
        <p:nvSpPr>
          <p:cNvPr id="18" name="Rectangle 17"/>
          <p:cNvSpPr/>
          <p:nvPr/>
        </p:nvSpPr>
        <p:spPr>
          <a:xfrm>
            <a:off x="365760" y="2340864"/>
            <a:ext cx="3657600"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2920" y="2377440"/>
            <a:ext cx="1554480" cy="256032"/>
          </a:xfrm>
          <a:prstGeom prst="rect">
            <a:avLst/>
          </a:prstGeom>
          <a:noFill/>
        </p:spPr>
        <p:txBody>
          <a:bodyPr wrap="square" anchor="t" lIns="0" rIns="0" tIns="0" bIns="0">
            <a:spAutoFit/>
          </a:bodyPr>
          <a:lstStyle/>
          <a:p>
            <a:pPr algn="l"/>
            <a:r>
              <a:rPr sz="1000" b="1">
                <a:solidFill>
                  <a:srgbClr val="0A1F44"/>
                </a:solidFill>
                <a:latin typeface="Calibri"/>
              </a:rPr>
              <a:t>LLM principal</a:t>
            </a:r>
          </a:p>
        </p:txBody>
      </p:sp>
      <p:sp>
        <p:nvSpPr>
          <p:cNvPr id="20" name="TextBox 19"/>
          <p:cNvSpPr txBox="1"/>
          <p:nvPr/>
        </p:nvSpPr>
        <p:spPr>
          <a:xfrm>
            <a:off x="2057400" y="2377440"/>
            <a:ext cx="1920240" cy="256032"/>
          </a:xfrm>
          <a:prstGeom prst="rect">
            <a:avLst/>
          </a:prstGeom>
          <a:noFill/>
        </p:spPr>
        <p:txBody>
          <a:bodyPr wrap="square" anchor="t" lIns="0" rIns="0" tIns="0" bIns="0">
            <a:spAutoFit/>
          </a:bodyPr>
          <a:lstStyle/>
          <a:p>
            <a:pPr algn="l"/>
            <a:r>
              <a:rPr sz="1000" b="0">
                <a:solidFill>
                  <a:srgbClr val="555F6D"/>
                </a:solidFill>
                <a:latin typeface="Calibri"/>
              </a:rPr>
              <a:t>Claude Sonnet 4.6</a:t>
            </a:r>
          </a:p>
        </p:txBody>
      </p:sp>
      <p:sp>
        <p:nvSpPr>
          <p:cNvPr id="21" name="Rectangle 20"/>
          <p:cNvSpPr/>
          <p:nvPr/>
        </p:nvSpPr>
        <p:spPr>
          <a:xfrm>
            <a:off x="365760" y="2633472"/>
            <a:ext cx="3657600" cy="292608"/>
          </a:xfrm>
          <a:prstGeom prst="rect">
            <a:avLst/>
          </a:prstGeom>
          <a:solidFill>
            <a:srgbClr val="F2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2920" y="2670048"/>
            <a:ext cx="1554480" cy="256032"/>
          </a:xfrm>
          <a:prstGeom prst="rect">
            <a:avLst/>
          </a:prstGeom>
          <a:noFill/>
        </p:spPr>
        <p:txBody>
          <a:bodyPr wrap="square" anchor="t" lIns="0" rIns="0" tIns="0" bIns="0">
            <a:spAutoFit/>
          </a:bodyPr>
          <a:lstStyle/>
          <a:p>
            <a:pPr algn="l"/>
            <a:r>
              <a:rPr sz="1000" b="1">
                <a:solidFill>
                  <a:srgbClr val="0A1F44"/>
                </a:solidFill>
                <a:latin typeface="Calibri"/>
              </a:rPr>
              <a:t>Contexte moyen</a:t>
            </a:r>
          </a:p>
        </p:txBody>
      </p:sp>
      <p:sp>
        <p:nvSpPr>
          <p:cNvPr id="23" name="TextBox 22"/>
          <p:cNvSpPr txBox="1"/>
          <p:nvPr/>
        </p:nvSpPr>
        <p:spPr>
          <a:xfrm>
            <a:off x="2057400" y="2670048"/>
            <a:ext cx="1920240" cy="256032"/>
          </a:xfrm>
          <a:prstGeom prst="rect">
            <a:avLst/>
          </a:prstGeom>
          <a:noFill/>
        </p:spPr>
        <p:txBody>
          <a:bodyPr wrap="square" anchor="t" lIns="0" rIns="0" tIns="0" bIns="0">
            <a:spAutoFit/>
          </a:bodyPr>
          <a:lstStyle/>
          <a:p>
            <a:pPr algn="l"/>
            <a:r>
              <a:rPr sz="1000" b="0">
                <a:solidFill>
                  <a:srgbClr val="555F6D"/>
                </a:solidFill>
                <a:latin typeface="Calibri"/>
              </a:rPr>
              <a:t>6k tokens in / 800 tokens out</a:t>
            </a:r>
          </a:p>
        </p:txBody>
      </p:sp>
      <p:sp>
        <p:nvSpPr>
          <p:cNvPr id="24" name="Rectangle 23"/>
          <p:cNvSpPr/>
          <p:nvPr/>
        </p:nvSpPr>
        <p:spPr>
          <a:xfrm>
            <a:off x="365760" y="2926080"/>
            <a:ext cx="3657600"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02920" y="2962656"/>
            <a:ext cx="1554480" cy="256032"/>
          </a:xfrm>
          <a:prstGeom prst="rect">
            <a:avLst/>
          </a:prstGeom>
          <a:noFill/>
        </p:spPr>
        <p:txBody>
          <a:bodyPr wrap="square" anchor="t" lIns="0" rIns="0" tIns="0" bIns="0">
            <a:spAutoFit/>
          </a:bodyPr>
          <a:lstStyle/>
          <a:p>
            <a:pPr algn="l"/>
            <a:r>
              <a:rPr sz="1000" b="1">
                <a:solidFill>
                  <a:srgbClr val="0A1F44"/>
                </a:solidFill>
                <a:latin typeface="Calibri"/>
              </a:rPr>
              <a:t>Vector store</a:t>
            </a:r>
          </a:p>
        </p:txBody>
      </p:sp>
      <p:sp>
        <p:nvSpPr>
          <p:cNvPr id="26" name="TextBox 25"/>
          <p:cNvSpPr txBox="1"/>
          <p:nvPr/>
        </p:nvSpPr>
        <p:spPr>
          <a:xfrm>
            <a:off x="2057400" y="2962656"/>
            <a:ext cx="1920240" cy="256032"/>
          </a:xfrm>
          <a:prstGeom prst="rect">
            <a:avLst/>
          </a:prstGeom>
          <a:noFill/>
        </p:spPr>
        <p:txBody>
          <a:bodyPr wrap="square" anchor="t" lIns="0" rIns="0" tIns="0" bIns="0">
            <a:spAutoFit/>
          </a:bodyPr>
          <a:lstStyle/>
          <a:p>
            <a:pPr algn="l"/>
            <a:r>
              <a:rPr sz="1000" b="0">
                <a:solidFill>
                  <a:srgbClr val="555F6D"/>
                </a:solidFill>
                <a:latin typeface="Calibri"/>
              </a:rPr>
              <a:t>Managed. 1.2M chunks</a:t>
            </a:r>
          </a:p>
        </p:txBody>
      </p:sp>
      <p:sp>
        <p:nvSpPr>
          <p:cNvPr id="27" name="Rectangle 26"/>
          <p:cNvSpPr/>
          <p:nvPr/>
        </p:nvSpPr>
        <p:spPr>
          <a:xfrm>
            <a:off x="365760" y="3218688"/>
            <a:ext cx="3657600" cy="292608"/>
          </a:xfrm>
          <a:prstGeom prst="rect">
            <a:avLst/>
          </a:prstGeom>
          <a:solidFill>
            <a:srgbClr val="F2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02920" y="3255264"/>
            <a:ext cx="1554480" cy="256032"/>
          </a:xfrm>
          <a:prstGeom prst="rect">
            <a:avLst/>
          </a:prstGeom>
          <a:noFill/>
        </p:spPr>
        <p:txBody>
          <a:bodyPr wrap="square" anchor="t" lIns="0" rIns="0" tIns="0" bIns="0">
            <a:spAutoFit/>
          </a:bodyPr>
          <a:lstStyle/>
          <a:p>
            <a:pPr algn="l"/>
            <a:r>
              <a:rPr sz="1000" b="1">
                <a:solidFill>
                  <a:srgbClr val="0A1F44"/>
                </a:solidFill>
                <a:latin typeface="Calibri"/>
              </a:rPr>
              <a:t>Deploiement</a:t>
            </a:r>
          </a:p>
        </p:txBody>
      </p:sp>
      <p:sp>
        <p:nvSpPr>
          <p:cNvPr id="29" name="TextBox 28"/>
          <p:cNvSpPr txBox="1"/>
          <p:nvPr/>
        </p:nvSpPr>
        <p:spPr>
          <a:xfrm>
            <a:off x="2057400" y="3255264"/>
            <a:ext cx="1920240" cy="256032"/>
          </a:xfrm>
          <a:prstGeom prst="rect">
            <a:avLst/>
          </a:prstGeom>
          <a:noFill/>
        </p:spPr>
        <p:txBody>
          <a:bodyPr wrap="square" anchor="t" lIns="0" rIns="0" tIns="0" bIns="0">
            <a:spAutoFit/>
          </a:bodyPr>
          <a:lstStyle/>
          <a:p>
            <a:pPr algn="l"/>
            <a:r>
              <a:rPr sz="1000" b="0">
                <a:solidFill>
                  <a:srgbClr val="555F6D"/>
                </a:solidFill>
                <a:latin typeface="Calibri"/>
              </a:rPr>
              <a:t>GCP Cloud Run + Vertex</a:t>
            </a:r>
          </a:p>
        </p:txBody>
      </p:sp>
      <p:sp>
        <p:nvSpPr>
          <p:cNvPr id="30" name="Rectangle 29"/>
          <p:cNvSpPr/>
          <p:nvPr/>
        </p:nvSpPr>
        <p:spPr>
          <a:xfrm>
            <a:off x="4160520" y="1051560"/>
            <a:ext cx="3840480" cy="365760"/>
          </a:xfrm>
          <a:prstGeom prst="rect">
            <a:avLst/>
          </a:prstGeom>
          <a:solidFill>
            <a:srgbClr val="0A1F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297680" y="1088136"/>
            <a:ext cx="3566160" cy="292608"/>
          </a:xfrm>
          <a:prstGeom prst="rect">
            <a:avLst/>
          </a:prstGeom>
          <a:noFill/>
        </p:spPr>
        <p:txBody>
          <a:bodyPr wrap="square" anchor="ctr" lIns="0" rIns="0" tIns="0" bIns="0">
            <a:spAutoFit/>
          </a:bodyPr>
          <a:lstStyle/>
          <a:p>
            <a:pPr algn="l"/>
            <a:r>
              <a:rPr sz="1300" b="1">
                <a:solidFill>
                  <a:srgbClr val="FFFFFF"/>
                </a:solidFill>
                <a:latin typeface="Calibri"/>
              </a:rPr>
              <a:t>Breakdown de cout mensuel</a:t>
            </a:r>
          </a:p>
        </p:txBody>
      </p:sp>
      <p:sp>
        <p:nvSpPr>
          <p:cNvPr id="32" name="TextBox 31"/>
          <p:cNvSpPr txBox="1"/>
          <p:nvPr/>
        </p:nvSpPr>
        <p:spPr>
          <a:xfrm>
            <a:off x="4206240" y="1499616"/>
            <a:ext cx="2194560" cy="256032"/>
          </a:xfrm>
          <a:prstGeom prst="rect">
            <a:avLst/>
          </a:prstGeom>
          <a:noFill/>
        </p:spPr>
        <p:txBody>
          <a:bodyPr wrap="square" anchor="t" lIns="0" rIns="0" tIns="0" bIns="0">
            <a:spAutoFit/>
          </a:bodyPr>
          <a:lstStyle/>
          <a:p>
            <a:pPr algn="l"/>
            <a:r>
              <a:rPr sz="1000" b="1">
                <a:solidFill>
                  <a:srgbClr val="0A1F44"/>
                </a:solidFill>
                <a:latin typeface="Calibri"/>
              </a:rPr>
              <a:t>LLM Claude Sonnet 4.6 (in/out)</a:t>
            </a:r>
          </a:p>
        </p:txBody>
      </p:sp>
      <p:sp>
        <p:nvSpPr>
          <p:cNvPr id="33" name="Rectangle 32"/>
          <p:cNvSpPr/>
          <p:nvPr/>
        </p:nvSpPr>
        <p:spPr>
          <a:xfrm>
            <a:off x="6355080" y="1536192"/>
            <a:ext cx="1371600" cy="182880"/>
          </a:xfrm>
          <a:prstGeom prst="rect">
            <a:avLst/>
          </a:prstGeom>
          <a:solidFill>
            <a:srgbClr val="0A1F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452360" y="1499616"/>
            <a:ext cx="502920" cy="256032"/>
          </a:xfrm>
          <a:prstGeom prst="rect">
            <a:avLst/>
          </a:prstGeom>
          <a:noFill/>
        </p:spPr>
        <p:txBody>
          <a:bodyPr wrap="square" anchor="t" lIns="0" rIns="0" tIns="0" bIns="0">
            <a:spAutoFit/>
          </a:bodyPr>
          <a:lstStyle/>
          <a:p>
            <a:pPr algn="r"/>
            <a:r>
              <a:rPr sz="1000" b="0">
                <a:solidFill>
                  <a:srgbClr val="0A1F44"/>
                </a:solidFill>
                <a:latin typeface="Calibri"/>
              </a:rPr>
              <a:t>1420 EUR</a:t>
            </a:r>
          </a:p>
        </p:txBody>
      </p:sp>
      <p:sp>
        <p:nvSpPr>
          <p:cNvPr id="35" name="TextBox 34"/>
          <p:cNvSpPr txBox="1"/>
          <p:nvPr/>
        </p:nvSpPr>
        <p:spPr>
          <a:xfrm>
            <a:off x="4206240" y="1828800"/>
            <a:ext cx="2194560" cy="256032"/>
          </a:xfrm>
          <a:prstGeom prst="rect">
            <a:avLst/>
          </a:prstGeom>
          <a:noFill/>
        </p:spPr>
        <p:txBody>
          <a:bodyPr wrap="square" anchor="t" lIns="0" rIns="0" tIns="0" bIns="0">
            <a:spAutoFit/>
          </a:bodyPr>
          <a:lstStyle/>
          <a:p>
            <a:pPr algn="l"/>
            <a:r>
              <a:rPr sz="1000" b="1">
                <a:solidFill>
                  <a:srgbClr val="0A1F44"/>
                </a:solidFill>
                <a:latin typeface="Calibri"/>
              </a:rPr>
              <a:t>Embeddings + reindex</a:t>
            </a:r>
          </a:p>
        </p:txBody>
      </p:sp>
      <p:sp>
        <p:nvSpPr>
          <p:cNvPr id="36" name="Rectangle 35"/>
          <p:cNvSpPr/>
          <p:nvPr/>
        </p:nvSpPr>
        <p:spPr>
          <a:xfrm>
            <a:off x="6355080" y="1865376"/>
            <a:ext cx="163285" cy="182880"/>
          </a:xfrm>
          <a:prstGeom prst="rect">
            <a:avLst/>
          </a:prstGeom>
          <a:solidFill>
            <a:srgbClr val="143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452360" y="1828800"/>
            <a:ext cx="502920" cy="256032"/>
          </a:xfrm>
          <a:prstGeom prst="rect">
            <a:avLst/>
          </a:prstGeom>
          <a:noFill/>
        </p:spPr>
        <p:txBody>
          <a:bodyPr wrap="square" anchor="t" lIns="0" rIns="0" tIns="0" bIns="0">
            <a:spAutoFit/>
          </a:bodyPr>
          <a:lstStyle/>
          <a:p>
            <a:pPr algn="r"/>
            <a:r>
              <a:rPr sz="1000" b="0">
                <a:solidFill>
                  <a:srgbClr val="0A1F44"/>
                </a:solidFill>
                <a:latin typeface="Calibri"/>
              </a:rPr>
              <a:t>180 EUR</a:t>
            </a:r>
          </a:p>
        </p:txBody>
      </p:sp>
      <p:sp>
        <p:nvSpPr>
          <p:cNvPr id="38" name="TextBox 37"/>
          <p:cNvSpPr txBox="1"/>
          <p:nvPr/>
        </p:nvSpPr>
        <p:spPr>
          <a:xfrm>
            <a:off x="4206240" y="2157984"/>
            <a:ext cx="2194560" cy="256032"/>
          </a:xfrm>
          <a:prstGeom prst="rect">
            <a:avLst/>
          </a:prstGeom>
          <a:noFill/>
        </p:spPr>
        <p:txBody>
          <a:bodyPr wrap="square" anchor="t" lIns="0" rIns="0" tIns="0" bIns="0">
            <a:spAutoFit/>
          </a:bodyPr>
          <a:lstStyle/>
          <a:p>
            <a:pPr algn="l"/>
            <a:r>
              <a:rPr sz="1000" b="1">
                <a:solidFill>
                  <a:srgbClr val="0A1F44"/>
                </a:solidFill>
                <a:latin typeface="Calibri"/>
              </a:rPr>
              <a:t>Vector store managed</a:t>
            </a:r>
          </a:p>
        </p:txBody>
      </p:sp>
      <p:sp>
        <p:nvSpPr>
          <p:cNvPr id="39" name="Rectangle 38"/>
          <p:cNvSpPr/>
          <p:nvPr/>
        </p:nvSpPr>
        <p:spPr>
          <a:xfrm>
            <a:off x="6355080" y="2194560"/>
            <a:ext cx="261257" cy="182880"/>
          </a:xfrm>
          <a:prstGeom prst="rect">
            <a:avLst/>
          </a:prstGeom>
          <a:solidFill>
            <a:srgbClr val="1E55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452360" y="2157984"/>
            <a:ext cx="502920" cy="256032"/>
          </a:xfrm>
          <a:prstGeom prst="rect">
            <a:avLst/>
          </a:prstGeom>
          <a:noFill/>
        </p:spPr>
        <p:txBody>
          <a:bodyPr wrap="square" anchor="t" lIns="0" rIns="0" tIns="0" bIns="0">
            <a:spAutoFit/>
          </a:bodyPr>
          <a:lstStyle/>
          <a:p>
            <a:pPr algn="r"/>
            <a:r>
              <a:rPr sz="1000" b="0">
                <a:solidFill>
                  <a:srgbClr val="0A1F44"/>
                </a:solidFill>
                <a:latin typeface="Calibri"/>
              </a:rPr>
              <a:t>260 EUR</a:t>
            </a:r>
          </a:p>
        </p:txBody>
      </p:sp>
      <p:sp>
        <p:nvSpPr>
          <p:cNvPr id="41" name="TextBox 40"/>
          <p:cNvSpPr txBox="1"/>
          <p:nvPr/>
        </p:nvSpPr>
        <p:spPr>
          <a:xfrm>
            <a:off x="4206240" y="2487168"/>
            <a:ext cx="2194560" cy="256032"/>
          </a:xfrm>
          <a:prstGeom prst="rect">
            <a:avLst/>
          </a:prstGeom>
          <a:noFill/>
        </p:spPr>
        <p:txBody>
          <a:bodyPr wrap="square" anchor="t" lIns="0" rIns="0" tIns="0" bIns="0">
            <a:spAutoFit/>
          </a:bodyPr>
          <a:lstStyle/>
          <a:p>
            <a:pPr algn="l"/>
            <a:r>
              <a:rPr sz="1000" b="1">
                <a:solidFill>
                  <a:srgbClr val="0A1F44"/>
                </a:solidFill>
                <a:latin typeface="Calibri"/>
              </a:rPr>
              <a:t>Cloud Run + reseau</a:t>
            </a:r>
          </a:p>
        </p:txBody>
      </p:sp>
      <p:sp>
        <p:nvSpPr>
          <p:cNvPr id="42" name="Rectangle 41"/>
          <p:cNvSpPr/>
          <p:nvPr/>
        </p:nvSpPr>
        <p:spPr>
          <a:xfrm>
            <a:off x="6355080" y="2523744"/>
            <a:ext cx="195942" cy="182880"/>
          </a:xfrm>
          <a:prstGeom prst="rect">
            <a:avLst/>
          </a:prstGeom>
          <a:solidFill>
            <a:srgbClr val="367A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452360" y="2487168"/>
            <a:ext cx="502920" cy="256032"/>
          </a:xfrm>
          <a:prstGeom prst="rect">
            <a:avLst/>
          </a:prstGeom>
          <a:noFill/>
        </p:spPr>
        <p:txBody>
          <a:bodyPr wrap="square" anchor="t" lIns="0" rIns="0" tIns="0" bIns="0">
            <a:spAutoFit/>
          </a:bodyPr>
          <a:lstStyle/>
          <a:p>
            <a:pPr algn="r"/>
            <a:r>
              <a:rPr sz="1000" b="0">
                <a:solidFill>
                  <a:srgbClr val="0A1F44"/>
                </a:solidFill>
                <a:latin typeface="Calibri"/>
              </a:rPr>
              <a:t>210 EUR</a:t>
            </a:r>
          </a:p>
        </p:txBody>
      </p:sp>
      <p:sp>
        <p:nvSpPr>
          <p:cNvPr id="44" name="TextBox 43"/>
          <p:cNvSpPr txBox="1"/>
          <p:nvPr/>
        </p:nvSpPr>
        <p:spPr>
          <a:xfrm>
            <a:off x="4206240" y="2816352"/>
            <a:ext cx="2194560" cy="256032"/>
          </a:xfrm>
          <a:prstGeom prst="rect">
            <a:avLst/>
          </a:prstGeom>
          <a:noFill/>
        </p:spPr>
        <p:txBody>
          <a:bodyPr wrap="square" anchor="t" lIns="0" rIns="0" tIns="0" bIns="0">
            <a:spAutoFit/>
          </a:bodyPr>
          <a:lstStyle/>
          <a:p>
            <a:pPr algn="l"/>
            <a:r>
              <a:rPr sz="1000" b="1">
                <a:solidFill>
                  <a:srgbClr val="0A1F44"/>
                </a:solidFill>
                <a:latin typeface="Calibri"/>
              </a:rPr>
              <a:t>Monitoring, logs, secrets</a:t>
            </a:r>
          </a:p>
        </p:txBody>
      </p:sp>
      <p:sp>
        <p:nvSpPr>
          <p:cNvPr id="45" name="Rectangle 44"/>
          <p:cNvSpPr/>
          <p:nvPr/>
        </p:nvSpPr>
        <p:spPr>
          <a:xfrm>
            <a:off x="6355080" y="2852928"/>
            <a:ext cx="97971" cy="182880"/>
          </a:xfrm>
          <a:prstGeom prst="rect">
            <a:avLst/>
          </a:prstGeom>
          <a:solidFill>
            <a:srgbClr val="5B9B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452360" y="2816352"/>
            <a:ext cx="502920" cy="256032"/>
          </a:xfrm>
          <a:prstGeom prst="rect">
            <a:avLst/>
          </a:prstGeom>
          <a:noFill/>
        </p:spPr>
        <p:txBody>
          <a:bodyPr wrap="square" anchor="t" lIns="0" rIns="0" tIns="0" bIns="0">
            <a:spAutoFit/>
          </a:bodyPr>
          <a:lstStyle/>
          <a:p>
            <a:pPr algn="r"/>
            <a:r>
              <a:rPr sz="1000" b="0">
                <a:solidFill>
                  <a:srgbClr val="0A1F44"/>
                </a:solidFill>
                <a:latin typeface="Calibri"/>
              </a:rPr>
              <a:t>90 EUR</a:t>
            </a:r>
          </a:p>
        </p:txBody>
      </p:sp>
      <p:sp>
        <p:nvSpPr>
          <p:cNvPr id="47" name="TextBox 46"/>
          <p:cNvSpPr txBox="1"/>
          <p:nvPr/>
        </p:nvSpPr>
        <p:spPr>
          <a:xfrm>
            <a:off x="4206240" y="3145536"/>
            <a:ext cx="2194560" cy="256032"/>
          </a:xfrm>
          <a:prstGeom prst="rect">
            <a:avLst/>
          </a:prstGeom>
          <a:noFill/>
        </p:spPr>
        <p:txBody>
          <a:bodyPr wrap="square" anchor="t" lIns="0" rIns="0" tIns="0" bIns="0">
            <a:spAutoFit/>
          </a:bodyPr>
          <a:lstStyle/>
          <a:p>
            <a:pPr algn="l"/>
            <a:r>
              <a:rPr sz="1000" b="1">
                <a:solidFill>
                  <a:srgbClr val="0A1F44"/>
                </a:solidFill>
                <a:latin typeface="Calibri"/>
              </a:rPr>
              <a:t>Marge d'incertitude (IC95)</a:t>
            </a:r>
          </a:p>
        </p:txBody>
      </p:sp>
      <p:sp>
        <p:nvSpPr>
          <p:cNvPr id="48" name="Rectangle 47"/>
          <p:cNvSpPr/>
          <p:nvPr/>
        </p:nvSpPr>
        <p:spPr>
          <a:xfrm>
            <a:off x="6355080" y="3182112"/>
            <a:ext cx="1175657" cy="182880"/>
          </a:xfrm>
          <a:prstGeom prst="rect">
            <a:avLst/>
          </a:prstGeom>
          <a:solidFill>
            <a:srgbClr val="8FB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7452360" y="3145536"/>
            <a:ext cx="502920" cy="256032"/>
          </a:xfrm>
          <a:prstGeom prst="rect">
            <a:avLst/>
          </a:prstGeom>
          <a:noFill/>
        </p:spPr>
        <p:txBody>
          <a:bodyPr wrap="square" anchor="t" lIns="0" rIns="0" tIns="0" bIns="0">
            <a:spAutoFit/>
          </a:bodyPr>
          <a:lstStyle/>
          <a:p>
            <a:pPr algn="r"/>
            <a:r>
              <a:rPr sz="1000" b="0">
                <a:solidFill>
                  <a:srgbClr val="0A1F44"/>
                </a:solidFill>
                <a:latin typeface="Calibri"/>
              </a:rPr>
              <a:t>1220 EUR</a:t>
            </a:r>
          </a:p>
        </p:txBody>
      </p:sp>
      <p:sp>
        <p:nvSpPr>
          <p:cNvPr id="50" name="Rectangle 49"/>
          <p:cNvSpPr/>
          <p:nvPr/>
        </p:nvSpPr>
        <p:spPr>
          <a:xfrm>
            <a:off x="4160520" y="3483864"/>
            <a:ext cx="3840480" cy="411480"/>
          </a:xfrm>
          <a:prstGeom prst="rect">
            <a:avLst/>
          </a:prstGeom>
          <a:solidFill>
            <a:srgbClr val="0A1F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4297680" y="3520440"/>
            <a:ext cx="2286000" cy="320040"/>
          </a:xfrm>
          <a:prstGeom prst="rect">
            <a:avLst/>
          </a:prstGeom>
          <a:noFill/>
        </p:spPr>
        <p:txBody>
          <a:bodyPr wrap="square" anchor="ctr" lIns="0" rIns="0" tIns="0" bIns="0">
            <a:spAutoFit/>
          </a:bodyPr>
          <a:lstStyle/>
          <a:p>
            <a:pPr algn="l"/>
            <a:r>
              <a:rPr sz="1200" b="1">
                <a:solidFill>
                  <a:srgbClr val="FFFFFF"/>
                </a:solidFill>
                <a:latin typeface="Calibri"/>
              </a:rPr>
              <a:t>Total mensuel estime</a:t>
            </a:r>
          </a:p>
        </p:txBody>
      </p:sp>
      <p:sp>
        <p:nvSpPr>
          <p:cNvPr id="52" name="TextBox 51"/>
          <p:cNvSpPr txBox="1"/>
          <p:nvPr/>
        </p:nvSpPr>
        <p:spPr>
          <a:xfrm>
            <a:off x="6675120" y="3520440"/>
            <a:ext cx="1234440" cy="320040"/>
          </a:xfrm>
          <a:prstGeom prst="rect">
            <a:avLst/>
          </a:prstGeom>
          <a:noFill/>
        </p:spPr>
        <p:txBody>
          <a:bodyPr wrap="square" anchor="ctr" lIns="0" rIns="0" tIns="0" bIns="0">
            <a:spAutoFit/>
          </a:bodyPr>
          <a:lstStyle/>
          <a:p>
            <a:pPr algn="r"/>
            <a:r>
              <a:rPr sz="1300" b="1">
                <a:solidFill>
                  <a:srgbClr val="FFFFFF"/>
                </a:solidFill>
                <a:latin typeface="Calibri"/>
              </a:rPr>
              <a:t>3380 EUR</a:t>
            </a:r>
          </a:p>
        </p:txBody>
      </p:sp>
      <p:sp>
        <p:nvSpPr>
          <p:cNvPr id="53" name="Rectangle 52"/>
          <p:cNvSpPr/>
          <p:nvPr/>
        </p:nvSpPr>
        <p:spPr>
          <a:xfrm>
            <a:off x="8138160" y="1051560"/>
            <a:ext cx="3703320" cy="365760"/>
          </a:xfrm>
          <a:prstGeom prst="rect">
            <a:avLst/>
          </a:prstGeom>
          <a:solidFill>
            <a:srgbClr val="E600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275320" y="1088136"/>
            <a:ext cx="3429000" cy="292608"/>
          </a:xfrm>
          <a:prstGeom prst="rect">
            <a:avLst/>
          </a:prstGeom>
          <a:noFill/>
        </p:spPr>
        <p:txBody>
          <a:bodyPr wrap="square" anchor="ctr" lIns="0" rIns="0" tIns="0" bIns="0">
            <a:spAutoFit/>
          </a:bodyPr>
          <a:lstStyle/>
          <a:p>
            <a:pPr algn="l"/>
            <a:r>
              <a:rPr sz="1300" b="1">
                <a:solidFill>
                  <a:srgbClr val="FFFFFF"/>
                </a:solidFill>
                <a:latin typeface="Calibri"/>
              </a:rPr>
              <a:t>Recommandation d'architecture</a:t>
            </a:r>
          </a:p>
        </p:txBody>
      </p:sp>
      <p:sp>
        <p:nvSpPr>
          <p:cNvPr id="55" name="Rectangle 54"/>
          <p:cNvSpPr/>
          <p:nvPr/>
        </p:nvSpPr>
        <p:spPr>
          <a:xfrm>
            <a:off x="8138160" y="1463040"/>
            <a:ext cx="54864" cy="640080"/>
          </a:xfrm>
          <a:prstGeom prst="rect">
            <a:avLst/>
          </a:prstGeom>
          <a:solidFill>
            <a:srgbClr val="E600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8275320" y="1499616"/>
            <a:ext cx="3520440" cy="640080"/>
          </a:xfrm>
          <a:prstGeom prst="rect">
            <a:avLst/>
          </a:prstGeom>
          <a:noFill/>
        </p:spPr>
        <p:txBody>
          <a:bodyPr wrap="square" anchor="t" lIns="0" rIns="0" tIns="0" bIns="0">
            <a:spAutoFit/>
          </a:bodyPr>
          <a:lstStyle/>
          <a:p>
            <a:pPr algn="l"/>
            <a:r>
              <a:rPr sz="1000" b="0">
                <a:solidFill>
                  <a:srgbClr val="0A1F44"/>
                </a:solidFill>
                <a:latin typeface="Calibri"/>
              </a:rPr>
              <a:t>Cache semantique sur les 20% de requetes recurrentes. Economie estimee 22%.</a:t>
            </a:r>
          </a:p>
        </p:txBody>
      </p:sp>
      <p:sp>
        <p:nvSpPr>
          <p:cNvPr id="57" name="Rectangle 56"/>
          <p:cNvSpPr/>
          <p:nvPr/>
        </p:nvSpPr>
        <p:spPr>
          <a:xfrm>
            <a:off x="8138160" y="2194560"/>
            <a:ext cx="54864" cy="640080"/>
          </a:xfrm>
          <a:prstGeom prst="rect">
            <a:avLst/>
          </a:prstGeom>
          <a:solidFill>
            <a:srgbClr val="E600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8275320" y="2231136"/>
            <a:ext cx="3520440" cy="640080"/>
          </a:xfrm>
          <a:prstGeom prst="rect">
            <a:avLst/>
          </a:prstGeom>
          <a:noFill/>
        </p:spPr>
        <p:txBody>
          <a:bodyPr wrap="square" anchor="t" lIns="0" rIns="0" tIns="0" bIns="0">
            <a:spAutoFit/>
          </a:bodyPr>
          <a:lstStyle/>
          <a:p>
            <a:pPr algn="l"/>
            <a:r>
              <a:rPr sz="1000" b="0">
                <a:solidFill>
                  <a:srgbClr val="0A1F44"/>
                </a:solidFill>
                <a:latin typeface="Calibri"/>
              </a:rPr>
              <a:t>Bascule vers Claude Haiku pour les requetes courtes classifiees. Economie estimee 15%.</a:t>
            </a:r>
          </a:p>
        </p:txBody>
      </p:sp>
      <p:sp>
        <p:nvSpPr>
          <p:cNvPr id="59" name="Rectangle 58"/>
          <p:cNvSpPr/>
          <p:nvPr/>
        </p:nvSpPr>
        <p:spPr>
          <a:xfrm>
            <a:off x="8138160" y="2926080"/>
            <a:ext cx="54864" cy="640080"/>
          </a:xfrm>
          <a:prstGeom prst="rect">
            <a:avLst/>
          </a:prstGeom>
          <a:solidFill>
            <a:srgbClr val="E600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8275320" y="2962656"/>
            <a:ext cx="3520440" cy="640080"/>
          </a:xfrm>
          <a:prstGeom prst="rect">
            <a:avLst/>
          </a:prstGeom>
          <a:noFill/>
        </p:spPr>
        <p:txBody>
          <a:bodyPr wrap="square" anchor="t" lIns="0" rIns="0" tIns="0" bIns="0">
            <a:spAutoFit/>
          </a:bodyPr>
          <a:lstStyle/>
          <a:p>
            <a:pPr algn="l"/>
            <a:r>
              <a:rPr sz="1000" b="0">
                <a:solidFill>
                  <a:srgbClr val="0A1F44"/>
                </a:solidFill>
                <a:latin typeface="Calibri"/>
              </a:rPr>
              <a:t>Batch d'embeddings quotidien plutot que streaming. Economie estimee 4%.</a:t>
            </a:r>
          </a:p>
        </p:txBody>
      </p:sp>
      <p:sp>
        <p:nvSpPr>
          <p:cNvPr id="61" name="Rectangle 60"/>
          <p:cNvSpPr/>
          <p:nvPr/>
        </p:nvSpPr>
        <p:spPr>
          <a:xfrm>
            <a:off x="8138160" y="3703320"/>
            <a:ext cx="3703320" cy="365760"/>
          </a:xfrm>
          <a:prstGeom prst="rect">
            <a:avLst/>
          </a:prstGeom>
          <a:solidFill>
            <a:srgbClr val="0A1F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8275320" y="3739896"/>
            <a:ext cx="3429000" cy="292608"/>
          </a:xfrm>
          <a:prstGeom prst="rect">
            <a:avLst/>
          </a:prstGeom>
          <a:noFill/>
        </p:spPr>
        <p:txBody>
          <a:bodyPr wrap="square" anchor="ctr" lIns="0" rIns="0" tIns="0" bIns="0">
            <a:spAutoFit/>
          </a:bodyPr>
          <a:lstStyle/>
          <a:p>
            <a:pPr algn="l"/>
            <a:r>
              <a:rPr sz="1300" b="1">
                <a:solidFill>
                  <a:srgbClr val="FFFFFF"/>
                </a:solidFill>
                <a:latin typeface="Calibri"/>
              </a:rPr>
              <a:t>Matrice de risques</a:t>
            </a:r>
          </a:p>
        </p:txBody>
      </p:sp>
      <p:sp>
        <p:nvSpPr>
          <p:cNvPr id="63" name="Rectangle 62"/>
          <p:cNvSpPr/>
          <p:nvPr/>
        </p:nvSpPr>
        <p:spPr>
          <a:xfrm>
            <a:off x="8138160" y="4114800"/>
            <a:ext cx="3703320" cy="329184"/>
          </a:xfrm>
          <a:prstGeom prst="rect">
            <a:avLst/>
          </a:prstGeom>
          <a:solidFill>
            <a:srgbClr val="F2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8275320" y="4160520"/>
            <a:ext cx="2331720" cy="256032"/>
          </a:xfrm>
          <a:prstGeom prst="rect">
            <a:avLst/>
          </a:prstGeom>
          <a:noFill/>
        </p:spPr>
        <p:txBody>
          <a:bodyPr wrap="square" anchor="t" lIns="0" rIns="0" tIns="0" bIns="0">
            <a:spAutoFit/>
          </a:bodyPr>
          <a:lstStyle/>
          <a:p>
            <a:pPr algn="l"/>
            <a:r>
              <a:rPr sz="1000" b="1">
                <a:solidFill>
                  <a:srgbClr val="0A1F44"/>
                </a:solidFill>
                <a:latin typeface="Calibri"/>
              </a:rPr>
              <a:t>Derive tokens en context</a:t>
            </a:r>
          </a:p>
        </p:txBody>
      </p:sp>
      <p:sp>
        <p:nvSpPr>
          <p:cNvPr id="65" name="Rectangle 64"/>
          <p:cNvSpPr/>
          <p:nvPr/>
        </p:nvSpPr>
        <p:spPr>
          <a:xfrm>
            <a:off x="10698480" y="4169664"/>
            <a:ext cx="1051560" cy="219456"/>
          </a:xfrm>
          <a:prstGeom prst="rect">
            <a:avLst/>
          </a:prstGeom>
          <a:solidFill>
            <a:srgbClr val="E600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10698480" y="4187952"/>
            <a:ext cx="1051560" cy="219456"/>
          </a:xfrm>
          <a:prstGeom prst="rect">
            <a:avLst/>
          </a:prstGeom>
          <a:noFill/>
        </p:spPr>
        <p:txBody>
          <a:bodyPr wrap="square" anchor="ctr" lIns="0" rIns="0" tIns="0" bIns="0">
            <a:spAutoFit/>
          </a:bodyPr>
          <a:lstStyle/>
          <a:p>
            <a:pPr algn="ctr"/>
            <a:r>
              <a:rPr sz="1000" b="1">
                <a:solidFill>
                  <a:srgbClr val="FFFFFF"/>
                </a:solidFill>
                <a:latin typeface="Calibri"/>
              </a:rPr>
              <a:t>Elevee</a:t>
            </a:r>
          </a:p>
        </p:txBody>
      </p:sp>
      <p:sp>
        <p:nvSpPr>
          <p:cNvPr id="67" name="Rectangle 66"/>
          <p:cNvSpPr/>
          <p:nvPr/>
        </p:nvSpPr>
        <p:spPr>
          <a:xfrm>
            <a:off x="8138160" y="4498848"/>
            <a:ext cx="3703320" cy="329184"/>
          </a:xfrm>
          <a:prstGeom prst="rect">
            <a:avLst/>
          </a:prstGeom>
          <a:solidFill>
            <a:srgbClr val="F2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8275320" y="4544568"/>
            <a:ext cx="2331720" cy="256032"/>
          </a:xfrm>
          <a:prstGeom prst="rect">
            <a:avLst/>
          </a:prstGeom>
          <a:noFill/>
        </p:spPr>
        <p:txBody>
          <a:bodyPr wrap="square" anchor="t" lIns="0" rIns="0" tIns="0" bIns="0">
            <a:spAutoFit/>
          </a:bodyPr>
          <a:lstStyle/>
          <a:p>
            <a:pPr algn="l"/>
            <a:r>
              <a:rPr sz="1000" b="1">
                <a:solidFill>
                  <a:srgbClr val="0A1F44"/>
                </a:solidFill>
                <a:latin typeface="Calibri"/>
              </a:rPr>
              <a:t>Cout embeddings a la reindex</a:t>
            </a:r>
          </a:p>
        </p:txBody>
      </p:sp>
      <p:sp>
        <p:nvSpPr>
          <p:cNvPr id="69" name="Rectangle 68"/>
          <p:cNvSpPr/>
          <p:nvPr/>
        </p:nvSpPr>
        <p:spPr>
          <a:xfrm>
            <a:off x="10698480" y="4553712"/>
            <a:ext cx="1051560" cy="219456"/>
          </a:xfrm>
          <a:prstGeom prst="rect">
            <a:avLst/>
          </a:prstGeom>
          <a:solidFill>
            <a:srgbClr val="F2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10698480" y="4572000"/>
            <a:ext cx="1051560" cy="219456"/>
          </a:xfrm>
          <a:prstGeom prst="rect">
            <a:avLst/>
          </a:prstGeom>
          <a:noFill/>
        </p:spPr>
        <p:txBody>
          <a:bodyPr wrap="square" anchor="ctr" lIns="0" rIns="0" tIns="0" bIns="0">
            <a:spAutoFit/>
          </a:bodyPr>
          <a:lstStyle/>
          <a:p>
            <a:pPr algn="ctr"/>
            <a:r>
              <a:rPr sz="1000" b="1">
                <a:solidFill>
                  <a:srgbClr val="FFFFFF"/>
                </a:solidFill>
                <a:latin typeface="Calibri"/>
              </a:rPr>
              <a:t>Moyen</a:t>
            </a:r>
          </a:p>
        </p:txBody>
      </p:sp>
      <p:sp>
        <p:nvSpPr>
          <p:cNvPr id="71" name="Rectangle 70"/>
          <p:cNvSpPr/>
          <p:nvPr/>
        </p:nvSpPr>
        <p:spPr>
          <a:xfrm>
            <a:off x="8138160" y="4882896"/>
            <a:ext cx="3703320" cy="329184"/>
          </a:xfrm>
          <a:prstGeom prst="rect">
            <a:avLst/>
          </a:prstGeom>
          <a:solidFill>
            <a:srgbClr val="F2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8275320" y="4928616"/>
            <a:ext cx="2331720" cy="256032"/>
          </a:xfrm>
          <a:prstGeom prst="rect">
            <a:avLst/>
          </a:prstGeom>
          <a:noFill/>
        </p:spPr>
        <p:txBody>
          <a:bodyPr wrap="square" anchor="t" lIns="0" rIns="0" tIns="0" bIns="0">
            <a:spAutoFit/>
          </a:bodyPr>
          <a:lstStyle/>
          <a:p>
            <a:pPr algn="l"/>
            <a:r>
              <a:rPr sz="1000" b="1">
                <a:solidFill>
                  <a:srgbClr val="0A1F44"/>
                </a:solidFill>
                <a:latin typeface="Calibri"/>
              </a:rPr>
              <a:t>Latence Vertex pic d'usage</a:t>
            </a:r>
          </a:p>
        </p:txBody>
      </p:sp>
      <p:sp>
        <p:nvSpPr>
          <p:cNvPr id="73" name="Rectangle 72"/>
          <p:cNvSpPr/>
          <p:nvPr/>
        </p:nvSpPr>
        <p:spPr>
          <a:xfrm>
            <a:off x="10698480" y="4937760"/>
            <a:ext cx="1051560" cy="219456"/>
          </a:xfrm>
          <a:prstGeom prst="rect">
            <a:avLst/>
          </a:prstGeom>
          <a:solidFill>
            <a:srgbClr val="F2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10698480" y="4956048"/>
            <a:ext cx="1051560" cy="219456"/>
          </a:xfrm>
          <a:prstGeom prst="rect">
            <a:avLst/>
          </a:prstGeom>
          <a:noFill/>
        </p:spPr>
        <p:txBody>
          <a:bodyPr wrap="square" anchor="ctr" lIns="0" rIns="0" tIns="0" bIns="0">
            <a:spAutoFit/>
          </a:bodyPr>
          <a:lstStyle/>
          <a:p>
            <a:pPr algn="ctr"/>
            <a:r>
              <a:rPr sz="1000" b="1">
                <a:solidFill>
                  <a:srgbClr val="FFFFFF"/>
                </a:solidFill>
                <a:latin typeface="Calibri"/>
              </a:rPr>
              <a:t>Moyen</a:t>
            </a:r>
          </a:p>
        </p:txBody>
      </p:sp>
      <p:sp>
        <p:nvSpPr>
          <p:cNvPr id="75" name="Rectangle 74"/>
          <p:cNvSpPr/>
          <p:nvPr/>
        </p:nvSpPr>
        <p:spPr>
          <a:xfrm>
            <a:off x="8138160" y="5266944"/>
            <a:ext cx="3703320" cy="329184"/>
          </a:xfrm>
          <a:prstGeom prst="rect">
            <a:avLst/>
          </a:prstGeom>
          <a:solidFill>
            <a:srgbClr val="F2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8275320" y="5312664"/>
            <a:ext cx="2331720" cy="256032"/>
          </a:xfrm>
          <a:prstGeom prst="rect">
            <a:avLst/>
          </a:prstGeom>
          <a:noFill/>
        </p:spPr>
        <p:txBody>
          <a:bodyPr wrap="square" anchor="t" lIns="0" rIns="0" tIns="0" bIns="0">
            <a:spAutoFit/>
          </a:bodyPr>
          <a:lstStyle/>
          <a:p>
            <a:pPr algn="l"/>
            <a:r>
              <a:rPr sz="1000" b="1">
                <a:solidFill>
                  <a:srgbClr val="0A1F44"/>
                </a:solidFill>
                <a:latin typeface="Calibri"/>
              </a:rPr>
              <a:t>Fuite donnees via logs</a:t>
            </a:r>
          </a:p>
        </p:txBody>
      </p:sp>
      <p:sp>
        <p:nvSpPr>
          <p:cNvPr id="77" name="Rectangle 76"/>
          <p:cNvSpPr/>
          <p:nvPr/>
        </p:nvSpPr>
        <p:spPr>
          <a:xfrm>
            <a:off x="10698480" y="5321808"/>
            <a:ext cx="1051560" cy="219456"/>
          </a:xfrm>
          <a:prstGeom prst="rect">
            <a:avLst/>
          </a:prstGeom>
          <a:solidFill>
            <a:srgbClr val="2EA4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10698480" y="5340096"/>
            <a:ext cx="1051560" cy="219456"/>
          </a:xfrm>
          <a:prstGeom prst="rect">
            <a:avLst/>
          </a:prstGeom>
          <a:noFill/>
        </p:spPr>
        <p:txBody>
          <a:bodyPr wrap="square" anchor="ctr" lIns="0" rIns="0" tIns="0" bIns="0">
            <a:spAutoFit/>
          </a:bodyPr>
          <a:lstStyle/>
          <a:p>
            <a:pPr algn="ctr"/>
            <a:r>
              <a:rPr sz="1000" b="1">
                <a:solidFill>
                  <a:srgbClr val="FFFFFF"/>
                </a:solidFill>
                <a:latin typeface="Calibri"/>
              </a:rPr>
              <a:t>Faible</a:t>
            </a:r>
          </a:p>
        </p:txBody>
      </p:sp>
      <p:sp>
        <p:nvSpPr>
          <p:cNvPr id="79" name="Rectangle 78"/>
          <p:cNvSpPr/>
          <p:nvPr/>
        </p:nvSpPr>
        <p:spPr>
          <a:xfrm>
            <a:off x="365760" y="5852160"/>
            <a:ext cx="11475720" cy="502920"/>
          </a:xfrm>
          <a:prstGeom prst="rect">
            <a:avLst/>
          </a:prstGeom>
          <a:solidFill>
            <a:srgbClr val="0A1F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640080" y="5897880"/>
            <a:ext cx="10972800" cy="411480"/>
          </a:xfrm>
          <a:prstGeom prst="rect">
            <a:avLst/>
          </a:prstGeom>
          <a:noFill/>
        </p:spPr>
        <p:txBody>
          <a:bodyPr wrap="square" anchor="ctr" lIns="0" rIns="0" tIns="0" bIns="0">
            <a:spAutoFit/>
          </a:bodyPr>
          <a:lstStyle/>
          <a:p>
            <a:pPr algn="l"/>
            <a:r>
              <a:rPr sz="1300" b="1">
                <a:solidFill>
                  <a:srgbClr val="FFFFFF"/>
                </a:solidFill>
                <a:latin typeface="Calibri"/>
              </a:rPr>
              <a:t>Sortie de la simulation, 3380 EUR / mois. Apres optimisations recommandees, 2020 EUR / mois. Payback outil &lt; 1 mois.</a:t>
            </a:r>
          </a:p>
        </p:txBody>
      </p:sp>
      <p:sp>
        <p:nvSpPr>
          <p:cNvPr id="81" name="TextBox 80"/>
          <p:cNvSpPr txBox="1"/>
          <p:nvPr/>
        </p:nvSpPr>
        <p:spPr>
          <a:xfrm>
            <a:off x="365760" y="6537960"/>
            <a:ext cx="9144000" cy="274320"/>
          </a:xfrm>
          <a:prstGeom prst="rect">
            <a:avLst/>
          </a:prstGeom>
          <a:noFill/>
        </p:spPr>
        <p:txBody>
          <a:bodyPr wrap="square" anchor="t" lIns="0" rIns="0" tIns="0" bIns="0">
            <a:spAutoFit/>
          </a:bodyPr>
          <a:lstStyle/>
          <a:p>
            <a:pPr algn="l"/>
            <a:r>
              <a:rPr sz="900" b="0">
                <a:solidFill>
                  <a:srgbClr val="555F6D"/>
                </a:solidFill>
                <a:latin typeface="Calibri"/>
              </a:rPr>
              <a:t>Sia. FinOps AI Platform. Confidential.</a:t>
            </a:r>
          </a:p>
        </p:txBody>
      </p:sp>
      <p:sp>
        <p:nvSpPr>
          <p:cNvPr id="82" name="TextBox 81"/>
          <p:cNvSpPr txBox="1"/>
          <p:nvPr/>
        </p:nvSpPr>
        <p:spPr>
          <a:xfrm>
            <a:off x="11430000" y="6537960"/>
            <a:ext cx="548640" cy="274320"/>
          </a:xfrm>
          <a:prstGeom prst="rect">
            <a:avLst/>
          </a:prstGeom>
          <a:noFill/>
        </p:spPr>
        <p:txBody>
          <a:bodyPr wrap="square" anchor="t" lIns="0" rIns="0" tIns="0" bIns="0">
            <a:spAutoFit/>
          </a:bodyPr>
          <a:lstStyle/>
          <a:p>
            <a:pPr algn="r"/>
            <a:r>
              <a:rPr sz="900" b="0">
                <a:solidFill>
                  <a:srgbClr val="555F6D"/>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0A1F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77240"/>
            <a:ext cx="12191695" cy="45720"/>
          </a:xfrm>
          <a:prstGeom prst="rect">
            <a:avLst/>
          </a:prstGeom>
          <a:solidFill>
            <a:srgbClr val="E600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09728"/>
            <a:ext cx="10058400" cy="457200"/>
          </a:xfrm>
          <a:prstGeom prst="rect">
            <a:avLst/>
          </a:prstGeom>
          <a:noFill/>
        </p:spPr>
        <p:txBody>
          <a:bodyPr wrap="square" anchor="t" lIns="0" rIns="0" tIns="0" bIns="0">
            <a:spAutoFit/>
          </a:bodyPr>
          <a:lstStyle/>
          <a:p>
            <a:pPr algn="l"/>
            <a:r>
              <a:rPr sz="2200" b="1">
                <a:solidFill>
                  <a:srgbClr val="FFFFFF"/>
                </a:solidFill>
                <a:latin typeface="Calibri"/>
              </a:rPr>
              <a:t>Connecter, explorer, diagnostiquer</a:t>
            </a:r>
          </a:p>
        </p:txBody>
      </p:sp>
      <p:sp>
        <p:nvSpPr>
          <p:cNvPr id="5" name="TextBox 4"/>
          <p:cNvSpPr txBox="1"/>
          <p:nvPr/>
        </p:nvSpPr>
        <p:spPr>
          <a:xfrm>
            <a:off x="365760" y="457200"/>
            <a:ext cx="10058400" cy="320040"/>
          </a:xfrm>
          <a:prstGeom prst="rect">
            <a:avLst/>
          </a:prstGeom>
          <a:noFill/>
        </p:spPr>
        <p:txBody>
          <a:bodyPr wrap="square" anchor="t" lIns="0" rIns="0" tIns="0" bIns="0">
            <a:spAutoFit/>
          </a:bodyPr>
          <a:lstStyle/>
          <a:p>
            <a:pPr algn="l"/>
            <a:r>
              <a:rPr sz="1100" b="0">
                <a:solidFill>
                  <a:srgbClr val="C7D2E5"/>
                </a:solidFill>
                <a:latin typeface="Calibri"/>
              </a:rPr>
              <a:t>Ce que vous pouvez faire des la premiere semaine d'usage</a:t>
            </a:r>
          </a:p>
        </p:txBody>
      </p:sp>
      <p:sp>
        <p:nvSpPr>
          <p:cNvPr id="6" name="TextBox 5"/>
          <p:cNvSpPr txBox="1"/>
          <p:nvPr/>
        </p:nvSpPr>
        <p:spPr>
          <a:xfrm>
            <a:off x="11155680" y="256032"/>
            <a:ext cx="914400" cy="320040"/>
          </a:xfrm>
          <a:prstGeom prst="rect">
            <a:avLst/>
          </a:prstGeom>
          <a:noFill/>
        </p:spPr>
        <p:txBody>
          <a:bodyPr wrap="square" anchor="t" lIns="0" rIns="0" tIns="0" bIns="0">
            <a:spAutoFit/>
          </a:bodyPr>
          <a:lstStyle/>
          <a:p>
            <a:pPr algn="r"/>
            <a:r>
              <a:rPr sz="1400" b="1">
                <a:solidFill>
                  <a:srgbClr val="FFFFFF"/>
                </a:solidFill>
                <a:latin typeface="Calibri"/>
              </a:rPr>
              <a:t>Sia</a:t>
            </a:r>
          </a:p>
        </p:txBody>
      </p:sp>
      <p:sp>
        <p:nvSpPr>
          <p:cNvPr id="7" name="Rectangle 6"/>
          <p:cNvSpPr/>
          <p:nvPr/>
        </p:nvSpPr>
        <p:spPr>
          <a:xfrm>
            <a:off x="365760" y="1051560"/>
            <a:ext cx="3698138" cy="502920"/>
          </a:xfrm>
          <a:prstGeom prst="rect">
            <a:avLst/>
          </a:prstGeom>
          <a:solidFill>
            <a:srgbClr val="0A1F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1097280"/>
            <a:ext cx="3423818" cy="228600"/>
          </a:xfrm>
          <a:prstGeom prst="rect">
            <a:avLst/>
          </a:prstGeom>
          <a:noFill/>
        </p:spPr>
        <p:txBody>
          <a:bodyPr wrap="square" anchor="t" lIns="0" rIns="0" tIns="0" bIns="0">
            <a:spAutoFit/>
          </a:bodyPr>
          <a:lstStyle/>
          <a:p>
            <a:pPr algn="l"/>
            <a:r>
              <a:rPr sz="1300" b="1">
                <a:solidFill>
                  <a:srgbClr val="FFFFFF"/>
                </a:solidFill>
                <a:latin typeface="Calibri"/>
              </a:rPr>
              <a:t>1. Brancher vos sources</a:t>
            </a:r>
          </a:p>
        </p:txBody>
      </p:sp>
      <p:sp>
        <p:nvSpPr>
          <p:cNvPr id="9" name="TextBox 8"/>
          <p:cNvSpPr txBox="1"/>
          <p:nvPr/>
        </p:nvSpPr>
        <p:spPr>
          <a:xfrm>
            <a:off x="502920" y="1307592"/>
            <a:ext cx="3423818" cy="201168"/>
          </a:xfrm>
          <a:prstGeom prst="rect">
            <a:avLst/>
          </a:prstGeom>
          <a:noFill/>
        </p:spPr>
        <p:txBody>
          <a:bodyPr wrap="square" anchor="t" lIns="0" rIns="0" tIns="0" bIns="0">
            <a:spAutoFit/>
          </a:bodyPr>
          <a:lstStyle/>
          <a:p>
            <a:pPr algn="l"/>
            <a:r>
              <a:rPr sz="900" b="0">
                <a:solidFill>
                  <a:srgbClr val="C7D2E5"/>
                </a:solidFill>
                <a:latin typeface="Calibri"/>
              </a:rPr>
              <a:t>Zero credential stockee cote client. Multi-cloud natif.</a:t>
            </a:r>
          </a:p>
        </p:txBody>
      </p:sp>
      <p:sp>
        <p:nvSpPr>
          <p:cNvPr id="10" name="Rectangle 9"/>
          <p:cNvSpPr/>
          <p:nvPr/>
        </p:nvSpPr>
        <p:spPr>
          <a:xfrm>
            <a:off x="365760" y="1554480"/>
            <a:ext cx="3698138" cy="3794760"/>
          </a:xfrm>
          <a:prstGeom prst="rect">
            <a:avLst/>
          </a:prstGeom>
          <a:solidFill>
            <a:srgbClr val="FFFFFF"/>
          </a:solidFill>
          <a:ln>
            <a:solidFill>
              <a:srgbClr val="0A1F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1645920"/>
            <a:ext cx="3423818" cy="274320"/>
          </a:xfrm>
          <a:prstGeom prst="rect">
            <a:avLst/>
          </a:prstGeom>
          <a:noFill/>
        </p:spPr>
        <p:txBody>
          <a:bodyPr wrap="square" anchor="t" lIns="0" rIns="0" tIns="0" bIns="0">
            <a:spAutoFit/>
          </a:bodyPr>
          <a:lstStyle/>
          <a:p>
            <a:pPr algn="l"/>
            <a:r>
              <a:rPr sz="1000" b="1">
                <a:solidFill>
                  <a:srgbClr val="E60028"/>
                </a:solidFill>
                <a:latin typeface="Calibri"/>
              </a:rPr>
              <a:t>Vous pouvez</a:t>
            </a:r>
          </a:p>
        </p:txBody>
      </p:sp>
      <p:sp>
        <p:nvSpPr>
          <p:cNvPr id="12" name="Rectangle 11"/>
          <p:cNvSpPr/>
          <p:nvPr/>
        </p:nvSpPr>
        <p:spPr>
          <a:xfrm>
            <a:off x="530352" y="2002536"/>
            <a:ext cx="73152" cy="73152"/>
          </a:xfrm>
          <a:prstGeom prst="rect">
            <a:avLst/>
          </a:prstGeom>
          <a:solidFill>
            <a:srgbClr val="E600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5800" y="1920240"/>
            <a:ext cx="3240938" cy="457200"/>
          </a:xfrm>
          <a:prstGeom prst="rect">
            <a:avLst/>
          </a:prstGeom>
          <a:noFill/>
        </p:spPr>
        <p:txBody>
          <a:bodyPr wrap="square" anchor="t" lIns="0" rIns="0" tIns="0" bIns="0">
            <a:spAutoFit/>
          </a:bodyPr>
          <a:lstStyle/>
          <a:p>
            <a:pPr algn="l"/>
            <a:r>
              <a:rPr sz="1000" b="0">
                <a:solidFill>
                  <a:srgbClr val="0A1F44"/>
                </a:solidFill>
                <a:latin typeface="Calibri"/>
              </a:rPr>
              <a:t>Connecter GCP en un clic via OAuth2, sans partage de cle de service.</a:t>
            </a:r>
          </a:p>
        </p:txBody>
      </p:sp>
      <p:sp>
        <p:nvSpPr>
          <p:cNvPr id="14" name="Rectangle 13"/>
          <p:cNvSpPr/>
          <p:nvPr/>
        </p:nvSpPr>
        <p:spPr>
          <a:xfrm>
            <a:off x="530352" y="2386584"/>
            <a:ext cx="73152" cy="73152"/>
          </a:xfrm>
          <a:prstGeom prst="rect">
            <a:avLst/>
          </a:prstGeom>
          <a:solidFill>
            <a:srgbClr val="E600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2304288"/>
            <a:ext cx="3240938" cy="457200"/>
          </a:xfrm>
          <a:prstGeom prst="rect">
            <a:avLst/>
          </a:prstGeom>
          <a:noFill/>
        </p:spPr>
        <p:txBody>
          <a:bodyPr wrap="square" anchor="t" lIns="0" rIns="0" tIns="0" bIns="0">
            <a:spAutoFit/>
          </a:bodyPr>
          <a:lstStyle/>
          <a:p>
            <a:pPr algn="l"/>
            <a:r>
              <a:rPr sz="1000" b="0">
                <a:solidFill>
                  <a:srgbClr val="0A1F44"/>
                </a:solidFill>
                <a:latin typeface="Calibri"/>
              </a:rPr>
              <a:t>Brancher AWS avec vos cles IAM validees par STS avant acceptation.</a:t>
            </a:r>
          </a:p>
        </p:txBody>
      </p:sp>
      <p:sp>
        <p:nvSpPr>
          <p:cNvPr id="16" name="Rectangle 15"/>
          <p:cNvSpPr/>
          <p:nvPr/>
        </p:nvSpPr>
        <p:spPr>
          <a:xfrm>
            <a:off x="530352" y="2770632"/>
            <a:ext cx="73152" cy="73152"/>
          </a:xfrm>
          <a:prstGeom prst="rect">
            <a:avLst/>
          </a:prstGeom>
          <a:solidFill>
            <a:srgbClr val="E600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5800" y="2688336"/>
            <a:ext cx="3240938" cy="457200"/>
          </a:xfrm>
          <a:prstGeom prst="rect">
            <a:avLst/>
          </a:prstGeom>
          <a:noFill/>
        </p:spPr>
        <p:txBody>
          <a:bodyPr wrap="square" anchor="t" lIns="0" rIns="0" tIns="0" bIns="0">
            <a:spAutoFit/>
          </a:bodyPr>
          <a:lstStyle/>
          <a:p>
            <a:pPr algn="l"/>
            <a:r>
              <a:rPr sz="1000" b="0">
                <a:solidFill>
                  <a:srgbClr val="0A1F44"/>
                </a:solidFill>
                <a:latin typeface="Calibri"/>
              </a:rPr>
              <a:t>Ingerer directement le BigQuery Billing Export officiel.</a:t>
            </a:r>
          </a:p>
        </p:txBody>
      </p:sp>
      <p:sp>
        <p:nvSpPr>
          <p:cNvPr id="18" name="Rectangle 17"/>
          <p:cNvSpPr/>
          <p:nvPr/>
        </p:nvSpPr>
        <p:spPr>
          <a:xfrm>
            <a:off x="530352" y="3154680"/>
            <a:ext cx="73152" cy="73152"/>
          </a:xfrm>
          <a:prstGeom prst="rect">
            <a:avLst/>
          </a:prstGeom>
          <a:solidFill>
            <a:srgbClr val="E600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3072384"/>
            <a:ext cx="3240938" cy="457200"/>
          </a:xfrm>
          <a:prstGeom prst="rect">
            <a:avLst/>
          </a:prstGeom>
          <a:noFill/>
        </p:spPr>
        <p:txBody>
          <a:bodyPr wrap="square" anchor="t" lIns="0" rIns="0" tIns="0" bIns="0">
            <a:spAutoFit/>
          </a:bodyPr>
          <a:lstStyle/>
          <a:p>
            <a:pPr algn="l"/>
            <a:r>
              <a:rPr sz="1000" b="0">
                <a:solidFill>
                  <a:srgbClr val="0A1F44"/>
                </a:solidFill>
                <a:latin typeface="Calibri"/>
              </a:rPr>
              <a:t>Uploader un CSV ou Excel pour un POC rapide sans integration IT.</a:t>
            </a:r>
          </a:p>
        </p:txBody>
      </p:sp>
      <p:sp>
        <p:nvSpPr>
          <p:cNvPr id="20" name="Rectangle 19"/>
          <p:cNvSpPr/>
          <p:nvPr/>
        </p:nvSpPr>
        <p:spPr>
          <a:xfrm>
            <a:off x="530352" y="3538728"/>
            <a:ext cx="73152" cy="73152"/>
          </a:xfrm>
          <a:prstGeom prst="rect">
            <a:avLst/>
          </a:prstGeom>
          <a:solidFill>
            <a:srgbClr val="E600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5800" y="3456432"/>
            <a:ext cx="3240938" cy="457200"/>
          </a:xfrm>
          <a:prstGeom prst="rect">
            <a:avLst/>
          </a:prstGeom>
          <a:noFill/>
        </p:spPr>
        <p:txBody>
          <a:bodyPr wrap="square" anchor="t" lIns="0" rIns="0" tIns="0" bIns="0">
            <a:spAutoFit/>
          </a:bodyPr>
          <a:lstStyle/>
          <a:p>
            <a:pPr algn="l"/>
            <a:r>
              <a:rPr sz="1000" b="0">
                <a:solidFill>
                  <a:srgbClr val="0A1F44"/>
                </a:solidFill>
                <a:latin typeface="Calibri"/>
              </a:rPr>
              <a:t>Isoler les credentials par utilisateur dans un coffre chiffre.</a:t>
            </a:r>
          </a:p>
        </p:txBody>
      </p:sp>
      <p:sp>
        <p:nvSpPr>
          <p:cNvPr id="22" name="Rectangle 21"/>
          <p:cNvSpPr/>
          <p:nvPr/>
        </p:nvSpPr>
        <p:spPr>
          <a:xfrm>
            <a:off x="502920" y="3886200"/>
            <a:ext cx="3423818" cy="18288"/>
          </a:xfrm>
          <a:prstGeom prst="rect">
            <a:avLst/>
          </a:prstGeom>
          <a:solidFill>
            <a:srgbClr val="F2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02920" y="3977640"/>
            <a:ext cx="3423818" cy="201168"/>
          </a:xfrm>
          <a:prstGeom prst="rect">
            <a:avLst/>
          </a:prstGeom>
          <a:noFill/>
        </p:spPr>
        <p:txBody>
          <a:bodyPr wrap="square" anchor="t" lIns="0" rIns="0" tIns="0" bIns="0">
            <a:spAutoFit/>
          </a:bodyPr>
          <a:lstStyle/>
          <a:p>
            <a:pPr algn="l"/>
            <a:r>
              <a:rPr sz="800" b="1">
                <a:solidFill>
                  <a:srgbClr val="555F6D"/>
                </a:solidFill>
                <a:latin typeface="Calibri"/>
              </a:rPr>
              <a:t>Points d'entree techniques</a:t>
            </a:r>
          </a:p>
        </p:txBody>
      </p:sp>
      <p:sp>
        <p:nvSpPr>
          <p:cNvPr id="24" name="TextBox 23"/>
          <p:cNvSpPr txBox="1"/>
          <p:nvPr/>
        </p:nvSpPr>
        <p:spPr>
          <a:xfrm>
            <a:off x="530352" y="4178808"/>
            <a:ext cx="3423818" cy="182880"/>
          </a:xfrm>
          <a:prstGeom prst="rect">
            <a:avLst/>
          </a:prstGeom>
          <a:noFill/>
        </p:spPr>
        <p:txBody>
          <a:bodyPr wrap="square" anchor="t" lIns="0" rIns="0" tIns="0" bIns="0">
            <a:spAutoFit/>
          </a:bodyPr>
          <a:lstStyle/>
          <a:p>
            <a:pPr algn="l"/>
            <a:r>
              <a:rPr sz="800" b="0">
                <a:solidFill>
                  <a:srgbClr val="555F6D"/>
                </a:solidFill>
                <a:latin typeface="Calibri"/>
              </a:rPr>
              <a:t>/api/gcp/auth. /api/gcp/callback. /api/gcp/projects.</a:t>
            </a:r>
          </a:p>
        </p:txBody>
      </p:sp>
      <p:sp>
        <p:nvSpPr>
          <p:cNvPr id="25" name="TextBox 24"/>
          <p:cNvSpPr txBox="1"/>
          <p:nvPr/>
        </p:nvSpPr>
        <p:spPr>
          <a:xfrm>
            <a:off x="530352" y="4352544"/>
            <a:ext cx="3423818" cy="182880"/>
          </a:xfrm>
          <a:prstGeom prst="rect">
            <a:avLst/>
          </a:prstGeom>
          <a:noFill/>
        </p:spPr>
        <p:txBody>
          <a:bodyPr wrap="square" anchor="t" lIns="0" rIns="0" tIns="0" bIns="0">
            <a:spAutoFit/>
          </a:bodyPr>
          <a:lstStyle/>
          <a:p>
            <a:pPr algn="l"/>
            <a:r>
              <a:rPr sz="800" b="0">
                <a:solidFill>
                  <a:srgbClr val="555F6D"/>
                </a:solidFill>
                <a:latin typeface="Calibri"/>
              </a:rPr>
              <a:t>/api/aws/status. /api/aws/connect.</a:t>
            </a:r>
          </a:p>
        </p:txBody>
      </p:sp>
      <p:sp>
        <p:nvSpPr>
          <p:cNvPr id="26" name="TextBox 25"/>
          <p:cNvSpPr txBox="1"/>
          <p:nvPr/>
        </p:nvSpPr>
        <p:spPr>
          <a:xfrm>
            <a:off x="530352" y="4526280"/>
            <a:ext cx="3423818" cy="182880"/>
          </a:xfrm>
          <a:prstGeom prst="rect">
            <a:avLst/>
          </a:prstGeom>
          <a:noFill/>
        </p:spPr>
        <p:txBody>
          <a:bodyPr wrap="square" anchor="t" lIns="0" rIns="0" tIns="0" bIns="0">
            <a:spAutoFit/>
          </a:bodyPr>
          <a:lstStyle/>
          <a:p>
            <a:pPr algn="l"/>
            <a:r>
              <a:rPr sz="800" b="0">
                <a:solidFill>
                  <a:srgbClr val="555F6D"/>
                </a:solidFill>
                <a:latin typeface="Calibri"/>
              </a:rPr>
              <a:t>/api/credentials. /api/data/status.</a:t>
            </a:r>
          </a:p>
        </p:txBody>
      </p:sp>
      <p:sp>
        <p:nvSpPr>
          <p:cNvPr id="27" name="Rectangle 26"/>
          <p:cNvSpPr/>
          <p:nvPr/>
        </p:nvSpPr>
        <p:spPr>
          <a:xfrm>
            <a:off x="4246778" y="1051560"/>
            <a:ext cx="3698138" cy="502920"/>
          </a:xfrm>
          <a:prstGeom prst="rect">
            <a:avLst/>
          </a:prstGeom>
          <a:solidFill>
            <a:srgbClr val="0A1F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383938" y="1097280"/>
            <a:ext cx="3423818" cy="228600"/>
          </a:xfrm>
          <a:prstGeom prst="rect">
            <a:avLst/>
          </a:prstGeom>
          <a:noFill/>
        </p:spPr>
        <p:txBody>
          <a:bodyPr wrap="square" anchor="t" lIns="0" rIns="0" tIns="0" bIns="0">
            <a:spAutoFit/>
          </a:bodyPr>
          <a:lstStyle/>
          <a:p>
            <a:pPr algn="l"/>
            <a:r>
              <a:rPr sz="1300" b="1">
                <a:solidFill>
                  <a:srgbClr val="FFFFFF"/>
                </a:solidFill>
                <a:latin typeface="Calibri"/>
              </a:rPr>
              <a:t>2. Explorer vos donnees</a:t>
            </a:r>
          </a:p>
        </p:txBody>
      </p:sp>
      <p:sp>
        <p:nvSpPr>
          <p:cNvPr id="29" name="TextBox 28"/>
          <p:cNvSpPr txBox="1"/>
          <p:nvPr/>
        </p:nvSpPr>
        <p:spPr>
          <a:xfrm>
            <a:off x="4383938" y="1307592"/>
            <a:ext cx="3423818" cy="201168"/>
          </a:xfrm>
          <a:prstGeom prst="rect">
            <a:avLst/>
          </a:prstGeom>
          <a:noFill/>
        </p:spPr>
        <p:txBody>
          <a:bodyPr wrap="square" anchor="t" lIns="0" rIns="0" tIns="0" bIns="0">
            <a:spAutoFit/>
          </a:bodyPr>
          <a:lstStyle/>
          <a:p>
            <a:pPr algn="l"/>
            <a:r>
              <a:rPr sz="900" b="0">
                <a:solidFill>
                  <a:srgbClr val="C7D2E5"/>
                </a:solidFill>
                <a:latin typeface="Calibri"/>
              </a:rPr>
              <a:t>Une EDA industrialisee, jusqu'ici reservee aux data scientists.</a:t>
            </a:r>
          </a:p>
        </p:txBody>
      </p:sp>
      <p:sp>
        <p:nvSpPr>
          <p:cNvPr id="30" name="Rectangle 29"/>
          <p:cNvSpPr/>
          <p:nvPr/>
        </p:nvSpPr>
        <p:spPr>
          <a:xfrm>
            <a:off x="4246778" y="1554480"/>
            <a:ext cx="3698138" cy="3794760"/>
          </a:xfrm>
          <a:prstGeom prst="rect">
            <a:avLst/>
          </a:prstGeom>
          <a:solidFill>
            <a:srgbClr val="FFFFFF"/>
          </a:solidFill>
          <a:ln>
            <a:solidFill>
              <a:srgbClr val="0A1F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383938" y="1645920"/>
            <a:ext cx="3423818" cy="274320"/>
          </a:xfrm>
          <a:prstGeom prst="rect">
            <a:avLst/>
          </a:prstGeom>
          <a:noFill/>
        </p:spPr>
        <p:txBody>
          <a:bodyPr wrap="square" anchor="t" lIns="0" rIns="0" tIns="0" bIns="0">
            <a:spAutoFit/>
          </a:bodyPr>
          <a:lstStyle/>
          <a:p>
            <a:pPr algn="l"/>
            <a:r>
              <a:rPr sz="1000" b="1">
                <a:solidFill>
                  <a:srgbClr val="E60028"/>
                </a:solidFill>
                <a:latin typeface="Calibri"/>
              </a:rPr>
              <a:t>Vous pouvez</a:t>
            </a:r>
          </a:p>
        </p:txBody>
      </p:sp>
      <p:sp>
        <p:nvSpPr>
          <p:cNvPr id="32" name="Rectangle 31"/>
          <p:cNvSpPr/>
          <p:nvPr/>
        </p:nvSpPr>
        <p:spPr>
          <a:xfrm>
            <a:off x="4411370" y="2002536"/>
            <a:ext cx="73152" cy="73152"/>
          </a:xfrm>
          <a:prstGeom prst="rect">
            <a:avLst/>
          </a:prstGeom>
          <a:solidFill>
            <a:srgbClr val="E600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566818" y="1920240"/>
            <a:ext cx="3240938" cy="457200"/>
          </a:xfrm>
          <a:prstGeom prst="rect">
            <a:avLst/>
          </a:prstGeom>
          <a:noFill/>
        </p:spPr>
        <p:txBody>
          <a:bodyPr wrap="square" anchor="t" lIns="0" rIns="0" tIns="0" bIns="0">
            <a:spAutoFit/>
          </a:bodyPr>
          <a:lstStyle/>
          <a:p>
            <a:pPr algn="l"/>
            <a:r>
              <a:rPr sz="1000" b="0">
                <a:solidFill>
                  <a:srgbClr val="0A1F44"/>
                </a:solidFill>
                <a:latin typeface="Calibri"/>
              </a:rPr>
              <a:t>Visualiser vos KPI FinOps consolides sur une periode arbitraire.</a:t>
            </a:r>
          </a:p>
        </p:txBody>
      </p:sp>
      <p:sp>
        <p:nvSpPr>
          <p:cNvPr id="34" name="Rectangle 33"/>
          <p:cNvSpPr/>
          <p:nvPr/>
        </p:nvSpPr>
        <p:spPr>
          <a:xfrm>
            <a:off x="4411370" y="2386584"/>
            <a:ext cx="73152" cy="73152"/>
          </a:xfrm>
          <a:prstGeom prst="rect">
            <a:avLst/>
          </a:prstGeom>
          <a:solidFill>
            <a:srgbClr val="E600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566818" y="2304288"/>
            <a:ext cx="3240938" cy="457200"/>
          </a:xfrm>
          <a:prstGeom prst="rect">
            <a:avLst/>
          </a:prstGeom>
          <a:noFill/>
        </p:spPr>
        <p:txBody>
          <a:bodyPr wrap="square" anchor="t" lIns="0" rIns="0" tIns="0" bIns="0">
            <a:spAutoFit/>
          </a:bodyPr>
          <a:lstStyle/>
          <a:p>
            <a:pPr algn="l"/>
            <a:r>
              <a:rPr sz="1000" b="0">
                <a:solidFill>
                  <a:srgbClr val="0A1F44"/>
                </a:solidFill>
                <a:latin typeface="Calibri"/>
              </a:rPr>
              <a:t>Decomposer votre serie de cout en tendance, saisonnalite et residu (STL).</a:t>
            </a:r>
          </a:p>
        </p:txBody>
      </p:sp>
      <p:sp>
        <p:nvSpPr>
          <p:cNvPr id="36" name="Rectangle 35"/>
          <p:cNvSpPr/>
          <p:nvPr/>
        </p:nvSpPr>
        <p:spPr>
          <a:xfrm>
            <a:off x="4411370" y="2770632"/>
            <a:ext cx="73152" cy="73152"/>
          </a:xfrm>
          <a:prstGeom prst="rect">
            <a:avLst/>
          </a:prstGeom>
          <a:solidFill>
            <a:srgbClr val="E600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566818" y="2688336"/>
            <a:ext cx="3240938" cy="457200"/>
          </a:xfrm>
          <a:prstGeom prst="rect">
            <a:avLst/>
          </a:prstGeom>
          <a:noFill/>
        </p:spPr>
        <p:txBody>
          <a:bodyPr wrap="square" anchor="t" lIns="0" rIns="0" tIns="0" bIns="0">
            <a:spAutoFit/>
          </a:bodyPr>
          <a:lstStyle/>
          <a:p>
            <a:pPr algn="l"/>
            <a:r>
              <a:rPr sz="1000" b="0">
                <a:solidFill>
                  <a:srgbClr val="0A1F44"/>
                </a:solidFill>
                <a:latin typeface="Calibri"/>
              </a:rPr>
              <a:t>Mesurer la stationnarite (test ADF) avant toute prevision.</a:t>
            </a:r>
          </a:p>
        </p:txBody>
      </p:sp>
      <p:sp>
        <p:nvSpPr>
          <p:cNvPr id="38" name="Rectangle 37"/>
          <p:cNvSpPr/>
          <p:nvPr/>
        </p:nvSpPr>
        <p:spPr>
          <a:xfrm>
            <a:off x="4411370" y="3154680"/>
            <a:ext cx="73152" cy="73152"/>
          </a:xfrm>
          <a:prstGeom prst="rect">
            <a:avLst/>
          </a:prstGeom>
          <a:solidFill>
            <a:srgbClr val="E600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566818" y="3072384"/>
            <a:ext cx="3240938" cy="457200"/>
          </a:xfrm>
          <a:prstGeom prst="rect">
            <a:avLst/>
          </a:prstGeom>
          <a:noFill/>
        </p:spPr>
        <p:txBody>
          <a:bodyPr wrap="square" anchor="t" lIns="0" rIns="0" tIns="0" bIns="0">
            <a:spAutoFit/>
          </a:bodyPr>
          <a:lstStyle/>
          <a:p>
            <a:pPr algn="l"/>
            <a:r>
              <a:rPr sz="1000" b="0">
                <a:solidFill>
                  <a:srgbClr val="0A1F44"/>
                </a:solidFill>
                <a:latin typeface="Calibri"/>
              </a:rPr>
              <a:t>Cartographier la repartition par service et sous-service GCP ou AWS.</a:t>
            </a:r>
          </a:p>
        </p:txBody>
      </p:sp>
      <p:sp>
        <p:nvSpPr>
          <p:cNvPr id="40" name="Rectangle 39"/>
          <p:cNvSpPr/>
          <p:nvPr/>
        </p:nvSpPr>
        <p:spPr>
          <a:xfrm>
            <a:off x="4411370" y="3538728"/>
            <a:ext cx="73152" cy="73152"/>
          </a:xfrm>
          <a:prstGeom prst="rect">
            <a:avLst/>
          </a:prstGeom>
          <a:solidFill>
            <a:srgbClr val="E600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566818" y="3456432"/>
            <a:ext cx="3240938" cy="457200"/>
          </a:xfrm>
          <a:prstGeom prst="rect">
            <a:avLst/>
          </a:prstGeom>
          <a:noFill/>
        </p:spPr>
        <p:txBody>
          <a:bodyPr wrap="square" anchor="t" lIns="0" rIns="0" tIns="0" bIns="0">
            <a:spAutoFit/>
          </a:bodyPr>
          <a:lstStyle/>
          <a:p>
            <a:pPr algn="l"/>
            <a:r>
              <a:rPr sz="1000" b="0">
                <a:solidFill>
                  <a:srgbClr val="0A1F44"/>
                </a:solidFill>
                <a:latin typeface="Calibri"/>
              </a:rPr>
              <a:t>Detecter les valeurs manquantes et les incoherences de scaling.</a:t>
            </a:r>
          </a:p>
        </p:txBody>
      </p:sp>
      <p:sp>
        <p:nvSpPr>
          <p:cNvPr id="42" name="Rectangle 41"/>
          <p:cNvSpPr/>
          <p:nvPr/>
        </p:nvSpPr>
        <p:spPr>
          <a:xfrm>
            <a:off x="4383938" y="3886200"/>
            <a:ext cx="3423818" cy="18288"/>
          </a:xfrm>
          <a:prstGeom prst="rect">
            <a:avLst/>
          </a:prstGeom>
          <a:solidFill>
            <a:srgbClr val="F2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383938" y="3977640"/>
            <a:ext cx="3423818" cy="201168"/>
          </a:xfrm>
          <a:prstGeom prst="rect">
            <a:avLst/>
          </a:prstGeom>
          <a:noFill/>
        </p:spPr>
        <p:txBody>
          <a:bodyPr wrap="square" anchor="t" lIns="0" rIns="0" tIns="0" bIns="0">
            <a:spAutoFit/>
          </a:bodyPr>
          <a:lstStyle/>
          <a:p>
            <a:pPr algn="l"/>
            <a:r>
              <a:rPr sz="800" b="1">
                <a:solidFill>
                  <a:srgbClr val="555F6D"/>
                </a:solidFill>
                <a:latin typeface="Calibri"/>
              </a:rPr>
              <a:t>Points d'entree techniques</a:t>
            </a:r>
          </a:p>
        </p:txBody>
      </p:sp>
      <p:sp>
        <p:nvSpPr>
          <p:cNvPr id="44" name="TextBox 43"/>
          <p:cNvSpPr txBox="1"/>
          <p:nvPr/>
        </p:nvSpPr>
        <p:spPr>
          <a:xfrm>
            <a:off x="4411370" y="4178808"/>
            <a:ext cx="3423818" cy="182880"/>
          </a:xfrm>
          <a:prstGeom prst="rect">
            <a:avLst/>
          </a:prstGeom>
          <a:noFill/>
        </p:spPr>
        <p:txBody>
          <a:bodyPr wrap="square" anchor="t" lIns="0" rIns="0" tIns="0" bIns="0">
            <a:spAutoFit/>
          </a:bodyPr>
          <a:lstStyle/>
          <a:p>
            <a:pPr algn="l"/>
            <a:r>
              <a:rPr sz="800" b="0">
                <a:solidFill>
                  <a:srgbClr val="555F6D"/>
                </a:solidFill>
                <a:latin typeface="Calibri"/>
              </a:rPr>
              <a:t>/api/analytics/kpi. /api/analytics/daily.</a:t>
            </a:r>
          </a:p>
        </p:txBody>
      </p:sp>
      <p:sp>
        <p:nvSpPr>
          <p:cNvPr id="45" name="TextBox 44"/>
          <p:cNvSpPr txBox="1"/>
          <p:nvPr/>
        </p:nvSpPr>
        <p:spPr>
          <a:xfrm>
            <a:off x="4411370" y="4352544"/>
            <a:ext cx="3423818" cy="182880"/>
          </a:xfrm>
          <a:prstGeom prst="rect">
            <a:avLst/>
          </a:prstGeom>
          <a:noFill/>
        </p:spPr>
        <p:txBody>
          <a:bodyPr wrap="square" anchor="t" lIns="0" rIns="0" tIns="0" bIns="0">
            <a:spAutoFit/>
          </a:bodyPr>
          <a:lstStyle/>
          <a:p>
            <a:pPr algn="l"/>
            <a:r>
              <a:rPr sz="800" b="0">
                <a:solidFill>
                  <a:srgbClr val="555F6D"/>
                </a:solidFill>
                <a:latin typeface="Calibri"/>
              </a:rPr>
              <a:t>/api/analytics/stl. /api/analytics/stationarity.</a:t>
            </a:r>
          </a:p>
        </p:txBody>
      </p:sp>
      <p:sp>
        <p:nvSpPr>
          <p:cNvPr id="46" name="TextBox 45"/>
          <p:cNvSpPr txBox="1"/>
          <p:nvPr/>
        </p:nvSpPr>
        <p:spPr>
          <a:xfrm>
            <a:off x="4411370" y="4526280"/>
            <a:ext cx="3423818" cy="182880"/>
          </a:xfrm>
          <a:prstGeom prst="rect">
            <a:avLst/>
          </a:prstGeom>
          <a:noFill/>
        </p:spPr>
        <p:txBody>
          <a:bodyPr wrap="square" anchor="t" lIns="0" rIns="0" tIns="0" bIns="0">
            <a:spAutoFit/>
          </a:bodyPr>
          <a:lstStyle/>
          <a:p>
            <a:pPr algn="l"/>
            <a:r>
              <a:rPr sz="800" b="0">
                <a:solidFill>
                  <a:srgbClr val="555F6D"/>
                </a:solidFill>
                <a:latin typeface="Calibri"/>
              </a:rPr>
              <a:t>/api/analytics/services. /api/analytics/missing.</a:t>
            </a:r>
          </a:p>
        </p:txBody>
      </p:sp>
      <p:sp>
        <p:nvSpPr>
          <p:cNvPr id="47" name="Rectangle 46"/>
          <p:cNvSpPr/>
          <p:nvPr/>
        </p:nvSpPr>
        <p:spPr>
          <a:xfrm>
            <a:off x="8127796" y="1051560"/>
            <a:ext cx="3698138" cy="502920"/>
          </a:xfrm>
          <a:prstGeom prst="rect">
            <a:avLst/>
          </a:prstGeom>
          <a:solidFill>
            <a:srgbClr val="0A1F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264956" y="1097280"/>
            <a:ext cx="3423818" cy="228600"/>
          </a:xfrm>
          <a:prstGeom prst="rect">
            <a:avLst/>
          </a:prstGeom>
          <a:noFill/>
        </p:spPr>
        <p:txBody>
          <a:bodyPr wrap="square" anchor="t" lIns="0" rIns="0" tIns="0" bIns="0">
            <a:spAutoFit/>
          </a:bodyPr>
          <a:lstStyle/>
          <a:p>
            <a:pPr algn="l"/>
            <a:r>
              <a:rPr sz="1300" b="1">
                <a:solidFill>
                  <a:srgbClr val="FFFFFF"/>
                </a:solidFill>
                <a:latin typeface="Calibri"/>
              </a:rPr>
              <a:t>3. Diagnostiquer</a:t>
            </a:r>
          </a:p>
        </p:txBody>
      </p:sp>
      <p:sp>
        <p:nvSpPr>
          <p:cNvPr id="49" name="TextBox 48"/>
          <p:cNvSpPr txBox="1"/>
          <p:nvPr/>
        </p:nvSpPr>
        <p:spPr>
          <a:xfrm>
            <a:off x="8264956" y="1307592"/>
            <a:ext cx="3423818" cy="201168"/>
          </a:xfrm>
          <a:prstGeom prst="rect">
            <a:avLst/>
          </a:prstGeom>
          <a:noFill/>
        </p:spPr>
        <p:txBody>
          <a:bodyPr wrap="square" anchor="t" lIns="0" rIns="0" tIns="0" bIns="0">
            <a:spAutoFit/>
          </a:bodyPr>
          <a:lstStyle/>
          <a:p>
            <a:pPr algn="l"/>
            <a:r>
              <a:rPr sz="900" b="0">
                <a:solidFill>
                  <a:srgbClr val="C7D2E5"/>
                </a:solidFill>
                <a:latin typeface="Calibri"/>
              </a:rPr>
              <a:t>Passer de l'alerte binaire a la comprehension statistique.</a:t>
            </a:r>
          </a:p>
        </p:txBody>
      </p:sp>
      <p:sp>
        <p:nvSpPr>
          <p:cNvPr id="50" name="Rectangle 49"/>
          <p:cNvSpPr/>
          <p:nvPr/>
        </p:nvSpPr>
        <p:spPr>
          <a:xfrm>
            <a:off x="8127796" y="1554480"/>
            <a:ext cx="3698138" cy="3794760"/>
          </a:xfrm>
          <a:prstGeom prst="rect">
            <a:avLst/>
          </a:prstGeom>
          <a:solidFill>
            <a:srgbClr val="FFFFFF"/>
          </a:solidFill>
          <a:ln>
            <a:solidFill>
              <a:srgbClr val="0A1F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8264956" y="1645920"/>
            <a:ext cx="3423818" cy="274320"/>
          </a:xfrm>
          <a:prstGeom prst="rect">
            <a:avLst/>
          </a:prstGeom>
          <a:noFill/>
        </p:spPr>
        <p:txBody>
          <a:bodyPr wrap="square" anchor="t" lIns="0" rIns="0" tIns="0" bIns="0">
            <a:spAutoFit/>
          </a:bodyPr>
          <a:lstStyle/>
          <a:p>
            <a:pPr algn="l"/>
            <a:r>
              <a:rPr sz="1000" b="1">
                <a:solidFill>
                  <a:srgbClr val="E60028"/>
                </a:solidFill>
                <a:latin typeface="Calibri"/>
              </a:rPr>
              <a:t>Vous pouvez</a:t>
            </a:r>
          </a:p>
        </p:txBody>
      </p:sp>
      <p:sp>
        <p:nvSpPr>
          <p:cNvPr id="52" name="Rectangle 51"/>
          <p:cNvSpPr/>
          <p:nvPr/>
        </p:nvSpPr>
        <p:spPr>
          <a:xfrm>
            <a:off x="8292388" y="2002536"/>
            <a:ext cx="73152" cy="73152"/>
          </a:xfrm>
          <a:prstGeom prst="rect">
            <a:avLst/>
          </a:prstGeom>
          <a:solidFill>
            <a:srgbClr val="E600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8447836" y="1920240"/>
            <a:ext cx="3240938" cy="457200"/>
          </a:xfrm>
          <a:prstGeom prst="rect">
            <a:avLst/>
          </a:prstGeom>
          <a:noFill/>
        </p:spPr>
        <p:txBody>
          <a:bodyPr wrap="square" anchor="t" lIns="0" rIns="0" tIns="0" bIns="0">
            <a:spAutoFit/>
          </a:bodyPr>
          <a:lstStyle/>
          <a:p>
            <a:pPr algn="l"/>
            <a:r>
              <a:rPr sz="1000" b="0">
                <a:solidFill>
                  <a:srgbClr val="0A1F44"/>
                </a:solidFill>
                <a:latin typeface="Calibri"/>
              </a:rPr>
              <a:t>Reperer les anomalies temporelles avec seuil statistiquement justifie.</a:t>
            </a:r>
          </a:p>
        </p:txBody>
      </p:sp>
      <p:sp>
        <p:nvSpPr>
          <p:cNvPr id="54" name="Rectangle 53"/>
          <p:cNvSpPr/>
          <p:nvPr/>
        </p:nvSpPr>
        <p:spPr>
          <a:xfrm>
            <a:off x="8292388" y="2386584"/>
            <a:ext cx="73152" cy="73152"/>
          </a:xfrm>
          <a:prstGeom prst="rect">
            <a:avLst/>
          </a:prstGeom>
          <a:solidFill>
            <a:srgbClr val="E600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8447836" y="2304288"/>
            <a:ext cx="3240938" cy="457200"/>
          </a:xfrm>
          <a:prstGeom prst="rect">
            <a:avLst/>
          </a:prstGeom>
          <a:noFill/>
        </p:spPr>
        <p:txBody>
          <a:bodyPr wrap="square" anchor="t" lIns="0" rIns="0" tIns="0" bIns="0">
            <a:spAutoFit/>
          </a:bodyPr>
          <a:lstStyle/>
          <a:p>
            <a:pPr algn="l"/>
            <a:r>
              <a:rPr sz="1000" b="0">
                <a:solidFill>
                  <a:srgbClr val="0A1F44"/>
                </a:solidFill>
                <a:latin typeface="Calibri"/>
              </a:rPr>
              <a:t>Detecter les outliers multivaries sur plusieurs services simultanes.</a:t>
            </a:r>
          </a:p>
        </p:txBody>
      </p:sp>
      <p:sp>
        <p:nvSpPr>
          <p:cNvPr id="56" name="Rectangle 55"/>
          <p:cNvSpPr/>
          <p:nvPr/>
        </p:nvSpPr>
        <p:spPr>
          <a:xfrm>
            <a:off x="8292388" y="2770632"/>
            <a:ext cx="73152" cy="73152"/>
          </a:xfrm>
          <a:prstGeom prst="rect">
            <a:avLst/>
          </a:prstGeom>
          <a:solidFill>
            <a:srgbClr val="E600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8447836" y="2688336"/>
            <a:ext cx="3240938" cy="457200"/>
          </a:xfrm>
          <a:prstGeom prst="rect">
            <a:avLst/>
          </a:prstGeom>
          <a:noFill/>
        </p:spPr>
        <p:txBody>
          <a:bodyPr wrap="square" anchor="t" lIns="0" rIns="0" tIns="0" bIns="0">
            <a:spAutoFit/>
          </a:bodyPr>
          <a:lstStyle/>
          <a:p>
            <a:pPr algn="l"/>
            <a:r>
              <a:rPr sz="1000" b="0">
                <a:solidFill>
                  <a:srgbClr val="0A1F44"/>
                </a:solidFill>
                <a:latin typeface="Calibri"/>
              </a:rPr>
              <a:t>Identifier les drifts distributionnels avant qu'ils explosent la facture.</a:t>
            </a:r>
          </a:p>
        </p:txBody>
      </p:sp>
      <p:sp>
        <p:nvSpPr>
          <p:cNvPr id="58" name="Rectangle 57"/>
          <p:cNvSpPr/>
          <p:nvPr/>
        </p:nvSpPr>
        <p:spPr>
          <a:xfrm>
            <a:off x="8292388" y="3154680"/>
            <a:ext cx="73152" cy="73152"/>
          </a:xfrm>
          <a:prstGeom prst="rect">
            <a:avLst/>
          </a:prstGeom>
          <a:solidFill>
            <a:srgbClr val="E600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8447836" y="3072384"/>
            <a:ext cx="3240938" cy="457200"/>
          </a:xfrm>
          <a:prstGeom prst="rect">
            <a:avLst/>
          </a:prstGeom>
          <a:noFill/>
        </p:spPr>
        <p:txBody>
          <a:bodyPr wrap="square" anchor="t" lIns="0" rIns="0" tIns="0" bIns="0">
            <a:spAutoFit/>
          </a:bodyPr>
          <a:lstStyle/>
          <a:p>
            <a:pPr algn="l"/>
            <a:r>
              <a:rPr sz="1000" b="0">
                <a:solidFill>
                  <a:srgbClr val="0A1F44"/>
                </a:solidFill>
                <a:latin typeface="Calibri"/>
              </a:rPr>
              <a:t>Comparer la distribution de cout entre deux periodes ou deux equipes.</a:t>
            </a:r>
          </a:p>
        </p:txBody>
      </p:sp>
      <p:sp>
        <p:nvSpPr>
          <p:cNvPr id="60" name="Rectangle 59"/>
          <p:cNvSpPr/>
          <p:nvPr/>
        </p:nvSpPr>
        <p:spPr>
          <a:xfrm>
            <a:off x="8292388" y="3538728"/>
            <a:ext cx="73152" cy="73152"/>
          </a:xfrm>
          <a:prstGeom prst="rect">
            <a:avLst/>
          </a:prstGeom>
          <a:solidFill>
            <a:srgbClr val="E600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8447836" y="3456432"/>
            <a:ext cx="3240938" cy="457200"/>
          </a:xfrm>
          <a:prstGeom prst="rect">
            <a:avLst/>
          </a:prstGeom>
          <a:noFill/>
        </p:spPr>
        <p:txBody>
          <a:bodyPr wrap="square" anchor="t" lIns="0" rIns="0" tIns="0" bIns="0">
            <a:spAutoFit/>
          </a:bodyPr>
          <a:lstStyle/>
          <a:p>
            <a:pPr algn="l"/>
            <a:r>
              <a:rPr sz="1000" b="0">
                <a:solidFill>
                  <a:srgbClr val="0A1F44"/>
                </a:solidFill>
                <a:latin typeface="Calibri"/>
              </a:rPr>
              <a:t>Consulter les Cloud Logs GCP directement dans l'interface.</a:t>
            </a:r>
          </a:p>
        </p:txBody>
      </p:sp>
      <p:sp>
        <p:nvSpPr>
          <p:cNvPr id="62" name="Rectangle 61"/>
          <p:cNvSpPr/>
          <p:nvPr/>
        </p:nvSpPr>
        <p:spPr>
          <a:xfrm>
            <a:off x="8264956" y="3886200"/>
            <a:ext cx="3423818" cy="18288"/>
          </a:xfrm>
          <a:prstGeom prst="rect">
            <a:avLst/>
          </a:prstGeom>
          <a:solidFill>
            <a:srgbClr val="F2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8264956" y="3977640"/>
            <a:ext cx="3423818" cy="201168"/>
          </a:xfrm>
          <a:prstGeom prst="rect">
            <a:avLst/>
          </a:prstGeom>
          <a:noFill/>
        </p:spPr>
        <p:txBody>
          <a:bodyPr wrap="square" anchor="t" lIns="0" rIns="0" tIns="0" bIns="0">
            <a:spAutoFit/>
          </a:bodyPr>
          <a:lstStyle/>
          <a:p>
            <a:pPr algn="l"/>
            <a:r>
              <a:rPr sz="800" b="1">
                <a:solidFill>
                  <a:srgbClr val="555F6D"/>
                </a:solidFill>
                <a:latin typeface="Calibri"/>
              </a:rPr>
              <a:t>Points d'entree techniques</a:t>
            </a:r>
          </a:p>
        </p:txBody>
      </p:sp>
      <p:sp>
        <p:nvSpPr>
          <p:cNvPr id="64" name="TextBox 63"/>
          <p:cNvSpPr txBox="1"/>
          <p:nvPr/>
        </p:nvSpPr>
        <p:spPr>
          <a:xfrm>
            <a:off x="8292388" y="4178808"/>
            <a:ext cx="3423818" cy="182880"/>
          </a:xfrm>
          <a:prstGeom prst="rect">
            <a:avLst/>
          </a:prstGeom>
          <a:noFill/>
        </p:spPr>
        <p:txBody>
          <a:bodyPr wrap="square" anchor="t" lIns="0" rIns="0" tIns="0" bIns="0">
            <a:spAutoFit/>
          </a:bodyPr>
          <a:lstStyle/>
          <a:p>
            <a:pPr algn="l"/>
            <a:r>
              <a:rPr sz="800" b="0">
                <a:solidFill>
                  <a:srgbClr val="555F6D"/>
                </a:solidFill>
                <a:latin typeface="Calibri"/>
              </a:rPr>
              <a:t>/api/analytics/anomalies. /api/analytics/outliers.</a:t>
            </a:r>
          </a:p>
        </p:txBody>
      </p:sp>
      <p:sp>
        <p:nvSpPr>
          <p:cNvPr id="65" name="TextBox 64"/>
          <p:cNvSpPr txBox="1"/>
          <p:nvPr/>
        </p:nvSpPr>
        <p:spPr>
          <a:xfrm>
            <a:off x="8292388" y="4352544"/>
            <a:ext cx="3423818" cy="182880"/>
          </a:xfrm>
          <a:prstGeom prst="rect">
            <a:avLst/>
          </a:prstGeom>
          <a:noFill/>
        </p:spPr>
        <p:txBody>
          <a:bodyPr wrap="square" anchor="t" lIns="0" rIns="0" tIns="0" bIns="0">
            <a:spAutoFit/>
          </a:bodyPr>
          <a:lstStyle/>
          <a:p>
            <a:pPr algn="l"/>
            <a:r>
              <a:rPr sz="800" b="0">
                <a:solidFill>
                  <a:srgbClr val="555F6D"/>
                </a:solidFill>
                <a:latin typeface="Calibri"/>
              </a:rPr>
              <a:t>/api/analytics/drift. /api/analytics/distribution.</a:t>
            </a:r>
          </a:p>
        </p:txBody>
      </p:sp>
      <p:sp>
        <p:nvSpPr>
          <p:cNvPr id="66" name="TextBox 65"/>
          <p:cNvSpPr txBox="1"/>
          <p:nvPr/>
        </p:nvSpPr>
        <p:spPr>
          <a:xfrm>
            <a:off x="8292388" y="4526280"/>
            <a:ext cx="3423818" cy="182880"/>
          </a:xfrm>
          <a:prstGeom prst="rect">
            <a:avLst/>
          </a:prstGeom>
          <a:noFill/>
        </p:spPr>
        <p:txBody>
          <a:bodyPr wrap="square" anchor="t" lIns="0" rIns="0" tIns="0" bIns="0">
            <a:spAutoFit/>
          </a:bodyPr>
          <a:lstStyle/>
          <a:p>
            <a:pPr algn="l"/>
            <a:r>
              <a:rPr sz="800" b="0">
                <a:solidFill>
                  <a:srgbClr val="555F6D"/>
                </a:solidFill>
                <a:latin typeface="Calibri"/>
              </a:rPr>
              <a:t>/api/gcp/logs. /api/gcp/services.</a:t>
            </a:r>
          </a:p>
        </p:txBody>
      </p:sp>
      <p:sp>
        <p:nvSpPr>
          <p:cNvPr id="67" name="Rectangle 66"/>
          <p:cNvSpPr/>
          <p:nvPr/>
        </p:nvSpPr>
        <p:spPr>
          <a:xfrm>
            <a:off x="365760" y="5440680"/>
            <a:ext cx="11460175" cy="914400"/>
          </a:xfrm>
          <a:prstGeom prst="rect">
            <a:avLst/>
          </a:prstGeom>
          <a:solidFill>
            <a:srgbClr val="F2F4F8"/>
          </a:solidFill>
          <a:ln>
            <a:solidFill>
              <a:srgbClr val="0A1F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365760" y="5440680"/>
            <a:ext cx="137160" cy="914400"/>
          </a:xfrm>
          <a:prstGeom prst="rect">
            <a:avLst/>
          </a:prstGeom>
          <a:solidFill>
            <a:srgbClr val="E600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640080" y="5513832"/>
            <a:ext cx="2286000" cy="274320"/>
          </a:xfrm>
          <a:prstGeom prst="rect">
            <a:avLst/>
          </a:prstGeom>
          <a:noFill/>
        </p:spPr>
        <p:txBody>
          <a:bodyPr wrap="square" anchor="t" lIns="0" rIns="0" tIns="0" bIns="0">
            <a:spAutoFit/>
          </a:bodyPr>
          <a:lstStyle/>
          <a:p>
            <a:pPr algn="l"/>
            <a:r>
              <a:rPr sz="1100" b="1">
                <a:solidFill>
                  <a:srgbClr val="E60028"/>
                </a:solidFill>
                <a:latin typeface="Calibri"/>
              </a:rPr>
              <a:t>En pratique. Un analyste FinOps chez un retailer, semaine 1.</a:t>
            </a:r>
          </a:p>
        </p:txBody>
      </p:sp>
      <p:sp>
        <p:nvSpPr>
          <p:cNvPr id="70" name="TextBox 69"/>
          <p:cNvSpPr txBox="1"/>
          <p:nvPr/>
        </p:nvSpPr>
        <p:spPr>
          <a:xfrm>
            <a:off x="640080" y="5760720"/>
            <a:ext cx="11002975" cy="548640"/>
          </a:xfrm>
          <a:prstGeom prst="rect">
            <a:avLst/>
          </a:prstGeom>
          <a:noFill/>
        </p:spPr>
        <p:txBody>
          <a:bodyPr wrap="square" anchor="t" lIns="0" rIns="0" tIns="0" bIns="0">
            <a:spAutoFit/>
          </a:bodyPr>
          <a:lstStyle/>
          <a:p>
            <a:pPr algn="l"/>
            <a:r>
              <a:rPr sz="1000" b="0">
                <a:solidFill>
                  <a:srgbClr val="0A1F44"/>
                </a:solidFill>
                <a:latin typeface="Calibri"/>
              </a:rPr>
              <a:t>Il branche GCP en 2 minutes et importe l'historique billing sur 18 mois. En moins d'une heure il visualise la decomposition STL qui revele une saisonnalite hebdo jusqu'ici masquee par la moyenne mensuelle, et repere deux drifts de service concomitants du dernier deploiement produit. Resultat. 3 heures de travail evitent une derive mensuelle estimee a 8 000 EUR.</a:t>
            </a:r>
          </a:p>
        </p:txBody>
      </p:sp>
      <p:sp>
        <p:nvSpPr>
          <p:cNvPr id="71" name="TextBox 70"/>
          <p:cNvSpPr txBox="1"/>
          <p:nvPr/>
        </p:nvSpPr>
        <p:spPr>
          <a:xfrm>
            <a:off x="365760" y="6537960"/>
            <a:ext cx="9144000" cy="274320"/>
          </a:xfrm>
          <a:prstGeom prst="rect">
            <a:avLst/>
          </a:prstGeom>
          <a:noFill/>
        </p:spPr>
        <p:txBody>
          <a:bodyPr wrap="square" anchor="t" lIns="0" rIns="0" tIns="0" bIns="0">
            <a:spAutoFit/>
          </a:bodyPr>
          <a:lstStyle/>
          <a:p>
            <a:pPr algn="l"/>
            <a:r>
              <a:rPr sz="900" b="0">
                <a:solidFill>
                  <a:srgbClr val="555F6D"/>
                </a:solidFill>
                <a:latin typeface="Calibri"/>
              </a:rPr>
              <a:t>Sia. FinOps AI Platform. Confidential.</a:t>
            </a:r>
          </a:p>
        </p:txBody>
      </p:sp>
      <p:sp>
        <p:nvSpPr>
          <p:cNvPr id="72" name="TextBox 71"/>
          <p:cNvSpPr txBox="1"/>
          <p:nvPr/>
        </p:nvSpPr>
        <p:spPr>
          <a:xfrm>
            <a:off x="11430000" y="6537960"/>
            <a:ext cx="548640" cy="274320"/>
          </a:xfrm>
          <a:prstGeom prst="rect">
            <a:avLst/>
          </a:prstGeom>
          <a:noFill/>
        </p:spPr>
        <p:txBody>
          <a:bodyPr wrap="square" anchor="t" lIns="0" rIns="0" tIns="0" bIns="0">
            <a:spAutoFit/>
          </a:bodyPr>
          <a:lstStyle/>
          <a:p>
            <a:pPr algn="r"/>
            <a:r>
              <a:rPr sz="900" b="0">
                <a:solidFill>
                  <a:srgbClr val="555F6D"/>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0A1F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77240"/>
            <a:ext cx="12191695" cy="45720"/>
          </a:xfrm>
          <a:prstGeom prst="rect">
            <a:avLst/>
          </a:prstGeom>
          <a:solidFill>
            <a:srgbClr val="E600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09728"/>
            <a:ext cx="10058400" cy="457200"/>
          </a:xfrm>
          <a:prstGeom prst="rect">
            <a:avLst/>
          </a:prstGeom>
          <a:noFill/>
        </p:spPr>
        <p:txBody>
          <a:bodyPr wrap="square" anchor="t" lIns="0" rIns="0" tIns="0" bIns="0">
            <a:spAutoFit/>
          </a:bodyPr>
          <a:lstStyle/>
          <a:p>
            <a:pPr algn="l"/>
            <a:r>
              <a:rPr sz="2200" b="1">
                <a:solidFill>
                  <a:srgbClr val="FFFFFF"/>
                </a:solidFill>
                <a:latin typeface="Calibri"/>
              </a:rPr>
              <a:t>Anticiper, comparer, arbitrer</a:t>
            </a:r>
          </a:p>
        </p:txBody>
      </p:sp>
      <p:sp>
        <p:nvSpPr>
          <p:cNvPr id="5" name="TextBox 4"/>
          <p:cNvSpPr txBox="1"/>
          <p:nvPr/>
        </p:nvSpPr>
        <p:spPr>
          <a:xfrm>
            <a:off x="365760" y="457200"/>
            <a:ext cx="10058400" cy="320040"/>
          </a:xfrm>
          <a:prstGeom prst="rect">
            <a:avLst/>
          </a:prstGeom>
          <a:noFill/>
        </p:spPr>
        <p:txBody>
          <a:bodyPr wrap="square" anchor="t" lIns="0" rIns="0" tIns="0" bIns="0">
            <a:spAutoFit/>
          </a:bodyPr>
          <a:lstStyle/>
          <a:p>
            <a:pPr algn="l"/>
            <a:r>
              <a:rPr sz="1100" b="0">
                <a:solidFill>
                  <a:srgbClr val="C7D2E5"/>
                </a:solidFill>
                <a:latin typeface="Calibri"/>
              </a:rPr>
              <a:t>Ce que vous pouvez faire quand vous devez decider et planifier</a:t>
            </a:r>
          </a:p>
        </p:txBody>
      </p:sp>
      <p:sp>
        <p:nvSpPr>
          <p:cNvPr id="6" name="TextBox 5"/>
          <p:cNvSpPr txBox="1"/>
          <p:nvPr/>
        </p:nvSpPr>
        <p:spPr>
          <a:xfrm>
            <a:off x="11155680" y="256032"/>
            <a:ext cx="914400" cy="320040"/>
          </a:xfrm>
          <a:prstGeom prst="rect">
            <a:avLst/>
          </a:prstGeom>
          <a:noFill/>
        </p:spPr>
        <p:txBody>
          <a:bodyPr wrap="square" anchor="t" lIns="0" rIns="0" tIns="0" bIns="0">
            <a:spAutoFit/>
          </a:bodyPr>
          <a:lstStyle/>
          <a:p>
            <a:pPr algn="r"/>
            <a:r>
              <a:rPr sz="1400" b="1">
                <a:solidFill>
                  <a:srgbClr val="FFFFFF"/>
                </a:solidFill>
                <a:latin typeface="Calibri"/>
              </a:rPr>
              <a:t>Sia</a:t>
            </a:r>
          </a:p>
        </p:txBody>
      </p:sp>
      <p:sp>
        <p:nvSpPr>
          <p:cNvPr id="7" name="Rectangle 6"/>
          <p:cNvSpPr/>
          <p:nvPr/>
        </p:nvSpPr>
        <p:spPr>
          <a:xfrm>
            <a:off x="365760" y="1051560"/>
            <a:ext cx="3698138" cy="502920"/>
          </a:xfrm>
          <a:prstGeom prst="rect">
            <a:avLst/>
          </a:prstGeom>
          <a:solidFill>
            <a:srgbClr val="0A1F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1097280"/>
            <a:ext cx="3423818" cy="228600"/>
          </a:xfrm>
          <a:prstGeom prst="rect">
            <a:avLst/>
          </a:prstGeom>
          <a:noFill/>
        </p:spPr>
        <p:txBody>
          <a:bodyPr wrap="square" anchor="t" lIns="0" rIns="0" tIns="0" bIns="0">
            <a:spAutoFit/>
          </a:bodyPr>
          <a:lstStyle/>
          <a:p>
            <a:pPr algn="l"/>
            <a:r>
              <a:rPr sz="1300" b="1">
                <a:solidFill>
                  <a:srgbClr val="FFFFFF"/>
                </a:solidFill>
                <a:latin typeface="Calibri"/>
              </a:rPr>
              <a:t>4. Prevoir la facture</a:t>
            </a:r>
          </a:p>
        </p:txBody>
      </p:sp>
      <p:sp>
        <p:nvSpPr>
          <p:cNvPr id="9" name="TextBox 8"/>
          <p:cNvSpPr txBox="1"/>
          <p:nvPr/>
        </p:nvSpPr>
        <p:spPr>
          <a:xfrm>
            <a:off x="502920" y="1307592"/>
            <a:ext cx="3423818" cy="201168"/>
          </a:xfrm>
          <a:prstGeom prst="rect">
            <a:avLst/>
          </a:prstGeom>
          <a:noFill/>
        </p:spPr>
        <p:txBody>
          <a:bodyPr wrap="square" anchor="t" lIns="0" rIns="0" tIns="0" bIns="0">
            <a:spAutoFit/>
          </a:bodyPr>
          <a:lstStyle/>
          <a:p>
            <a:pPr algn="l"/>
            <a:r>
              <a:rPr sz="900" b="0">
                <a:solidFill>
                  <a:srgbClr val="C7D2E5"/>
                </a:solidFill>
                <a:latin typeface="Calibri"/>
              </a:rPr>
              <a:t>Une prevision honnete avec fourchette d'incertitude explicite.</a:t>
            </a:r>
          </a:p>
        </p:txBody>
      </p:sp>
      <p:sp>
        <p:nvSpPr>
          <p:cNvPr id="10" name="Rectangle 9"/>
          <p:cNvSpPr/>
          <p:nvPr/>
        </p:nvSpPr>
        <p:spPr>
          <a:xfrm>
            <a:off x="365760" y="1554480"/>
            <a:ext cx="3698138" cy="3794760"/>
          </a:xfrm>
          <a:prstGeom prst="rect">
            <a:avLst/>
          </a:prstGeom>
          <a:solidFill>
            <a:srgbClr val="FFFFFF"/>
          </a:solidFill>
          <a:ln>
            <a:solidFill>
              <a:srgbClr val="0A1F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1645920"/>
            <a:ext cx="3423818" cy="274320"/>
          </a:xfrm>
          <a:prstGeom prst="rect">
            <a:avLst/>
          </a:prstGeom>
          <a:noFill/>
        </p:spPr>
        <p:txBody>
          <a:bodyPr wrap="square" anchor="t" lIns="0" rIns="0" tIns="0" bIns="0">
            <a:spAutoFit/>
          </a:bodyPr>
          <a:lstStyle/>
          <a:p>
            <a:pPr algn="l"/>
            <a:r>
              <a:rPr sz="1000" b="1">
                <a:solidFill>
                  <a:srgbClr val="E60028"/>
                </a:solidFill>
                <a:latin typeface="Calibri"/>
              </a:rPr>
              <a:t>Vous pouvez</a:t>
            </a:r>
          </a:p>
        </p:txBody>
      </p:sp>
      <p:sp>
        <p:nvSpPr>
          <p:cNvPr id="12" name="Rectangle 11"/>
          <p:cNvSpPr/>
          <p:nvPr/>
        </p:nvSpPr>
        <p:spPr>
          <a:xfrm>
            <a:off x="530352" y="2002536"/>
            <a:ext cx="73152" cy="73152"/>
          </a:xfrm>
          <a:prstGeom prst="rect">
            <a:avLst/>
          </a:prstGeom>
          <a:solidFill>
            <a:srgbClr val="E600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5800" y="1920240"/>
            <a:ext cx="3240938" cy="457200"/>
          </a:xfrm>
          <a:prstGeom prst="rect">
            <a:avLst/>
          </a:prstGeom>
          <a:noFill/>
        </p:spPr>
        <p:txBody>
          <a:bodyPr wrap="square" anchor="t" lIns="0" rIns="0" tIns="0" bIns="0">
            <a:spAutoFit/>
          </a:bodyPr>
          <a:lstStyle/>
          <a:p>
            <a:pPr algn="l"/>
            <a:r>
              <a:rPr sz="1000" b="0">
                <a:solidFill>
                  <a:srgbClr val="0A1F44"/>
                </a:solidFill>
                <a:latin typeface="Calibri"/>
              </a:rPr>
              <a:t>Generer un forecast a 7, 30, 60 ou 90 jours sur n'importe quelle serie.</a:t>
            </a:r>
          </a:p>
        </p:txBody>
      </p:sp>
      <p:sp>
        <p:nvSpPr>
          <p:cNvPr id="14" name="Rectangle 13"/>
          <p:cNvSpPr/>
          <p:nvPr/>
        </p:nvSpPr>
        <p:spPr>
          <a:xfrm>
            <a:off x="530352" y="2386584"/>
            <a:ext cx="73152" cy="73152"/>
          </a:xfrm>
          <a:prstGeom prst="rect">
            <a:avLst/>
          </a:prstGeom>
          <a:solidFill>
            <a:srgbClr val="E600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2304288"/>
            <a:ext cx="3240938" cy="457200"/>
          </a:xfrm>
          <a:prstGeom prst="rect">
            <a:avLst/>
          </a:prstGeom>
          <a:noFill/>
        </p:spPr>
        <p:txBody>
          <a:bodyPr wrap="square" anchor="t" lIns="0" rIns="0" tIns="0" bIns="0">
            <a:spAutoFit/>
          </a:bodyPr>
          <a:lstStyle/>
          <a:p>
            <a:pPr algn="l"/>
            <a:r>
              <a:rPr sz="1000" b="0">
                <a:solidFill>
                  <a:srgbClr val="0A1F44"/>
                </a:solidFill>
                <a:latin typeface="Calibri"/>
              </a:rPr>
              <a:t>Comparer six modeles statistiques evalues en walk-forward cross-validation.</a:t>
            </a:r>
          </a:p>
        </p:txBody>
      </p:sp>
      <p:sp>
        <p:nvSpPr>
          <p:cNvPr id="16" name="Rectangle 15"/>
          <p:cNvSpPr/>
          <p:nvPr/>
        </p:nvSpPr>
        <p:spPr>
          <a:xfrm>
            <a:off x="530352" y="2770632"/>
            <a:ext cx="73152" cy="73152"/>
          </a:xfrm>
          <a:prstGeom prst="rect">
            <a:avLst/>
          </a:prstGeom>
          <a:solidFill>
            <a:srgbClr val="E600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5800" y="2688336"/>
            <a:ext cx="3240938" cy="457200"/>
          </a:xfrm>
          <a:prstGeom prst="rect">
            <a:avLst/>
          </a:prstGeom>
          <a:noFill/>
        </p:spPr>
        <p:txBody>
          <a:bodyPr wrap="square" anchor="t" lIns="0" rIns="0" tIns="0" bIns="0">
            <a:spAutoFit/>
          </a:bodyPr>
          <a:lstStyle/>
          <a:p>
            <a:pPr algn="l"/>
            <a:r>
              <a:rPr sz="1000" b="0">
                <a:solidFill>
                  <a:srgbClr val="0A1F44"/>
                </a:solidFill>
                <a:latin typeface="Calibri"/>
              </a:rPr>
              <a:t>Choisir manuellement un modele ou laisser un ensemble pondere decider.</a:t>
            </a:r>
          </a:p>
        </p:txBody>
      </p:sp>
      <p:sp>
        <p:nvSpPr>
          <p:cNvPr id="18" name="Rectangle 17"/>
          <p:cNvSpPr/>
          <p:nvPr/>
        </p:nvSpPr>
        <p:spPr>
          <a:xfrm>
            <a:off x="530352" y="3154680"/>
            <a:ext cx="73152" cy="73152"/>
          </a:xfrm>
          <a:prstGeom prst="rect">
            <a:avLst/>
          </a:prstGeom>
          <a:solidFill>
            <a:srgbClr val="E600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3072384"/>
            <a:ext cx="3240938" cy="457200"/>
          </a:xfrm>
          <a:prstGeom prst="rect">
            <a:avLst/>
          </a:prstGeom>
          <a:noFill/>
        </p:spPr>
        <p:txBody>
          <a:bodyPr wrap="square" anchor="t" lIns="0" rIns="0" tIns="0" bIns="0">
            <a:spAutoFit/>
          </a:bodyPr>
          <a:lstStyle/>
          <a:p>
            <a:pPr algn="l"/>
            <a:r>
              <a:rPr sz="1000" b="0">
                <a:solidFill>
                  <a:srgbClr val="0A1F44"/>
                </a:solidFill>
                <a:latin typeface="Calibri"/>
              </a:rPr>
              <a:t>Consulter les intervalles de confiance 80% et 95% sur chaque point.</a:t>
            </a:r>
          </a:p>
        </p:txBody>
      </p:sp>
      <p:sp>
        <p:nvSpPr>
          <p:cNvPr id="20" name="Rectangle 19"/>
          <p:cNvSpPr/>
          <p:nvPr/>
        </p:nvSpPr>
        <p:spPr>
          <a:xfrm>
            <a:off x="530352" y="3538728"/>
            <a:ext cx="73152" cy="73152"/>
          </a:xfrm>
          <a:prstGeom prst="rect">
            <a:avLst/>
          </a:prstGeom>
          <a:solidFill>
            <a:srgbClr val="E600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5800" y="3456432"/>
            <a:ext cx="3240938" cy="457200"/>
          </a:xfrm>
          <a:prstGeom prst="rect">
            <a:avLst/>
          </a:prstGeom>
          <a:noFill/>
        </p:spPr>
        <p:txBody>
          <a:bodyPr wrap="square" anchor="t" lIns="0" rIns="0" tIns="0" bIns="0">
            <a:spAutoFit/>
          </a:bodyPr>
          <a:lstStyle/>
          <a:p>
            <a:pPr algn="l"/>
            <a:r>
              <a:rPr sz="1000" b="0">
                <a:solidFill>
                  <a:srgbClr val="0A1F44"/>
                </a:solidFill>
                <a:latin typeface="Calibri"/>
              </a:rPr>
              <a:t>Exporter les previsions pour votre outil de budget.</a:t>
            </a:r>
          </a:p>
        </p:txBody>
      </p:sp>
      <p:sp>
        <p:nvSpPr>
          <p:cNvPr id="22" name="Rectangle 21"/>
          <p:cNvSpPr/>
          <p:nvPr/>
        </p:nvSpPr>
        <p:spPr>
          <a:xfrm>
            <a:off x="502920" y="3886200"/>
            <a:ext cx="3423818" cy="18288"/>
          </a:xfrm>
          <a:prstGeom prst="rect">
            <a:avLst/>
          </a:prstGeom>
          <a:solidFill>
            <a:srgbClr val="F2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02920" y="3977640"/>
            <a:ext cx="3423818" cy="201168"/>
          </a:xfrm>
          <a:prstGeom prst="rect">
            <a:avLst/>
          </a:prstGeom>
          <a:noFill/>
        </p:spPr>
        <p:txBody>
          <a:bodyPr wrap="square" anchor="t" lIns="0" rIns="0" tIns="0" bIns="0">
            <a:spAutoFit/>
          </a:bodyPr>
          <a:lstStyle/>
          <a:p>
            <a:pPr algn="l"/>
            <a:r>
              <a:rPr sz="800" b="1">
                <a:solidFill>
                  <a:srgbClr val="555F6D"/>
                </a:solidFill>
                <a:latin typeface="Calibri"/>
              </a:rPr>
              <a:t>Points d'entree techniques</a:t>
            </a:r>
          </a:p>
        </p:txBody>
      </p:sp>
      <p:sp>
        <p:nvSpPr>
          <p:cNvPr id="24" name="TextBox 23"/>
          <p:cNvSpPr txBox="1"/>
          <p:nvPr/>
        </p:nvSpPr>
        <p:spPr>
          <a:xfrm>
            <a:off x="530352" y="4178808"/>
            <a:ext cx="3423818" cy="182880"/>
          </a:xfrm>
          <a:prstGeom prst="rect">
            <a:avLst/>
          </a:prstGeom>
          <a:noFill/>
        </p:spPr>
        <p:txBody>
          <a:bodyPr wrap="square" anchor="t" lIns="0" rIns="0" tIns="0" bIns="0">
            <a:spAutoFit/>
          </a:bodyPr>
          <a:lstStyle/>
          <a:p>
            <a:pPr algn="l"/>
            <a:r>
              <a:rPr sz="800" b="0">
                <a:solidFill>
                  <a:srgbClr val="555F6D"/>
                </a:solidFill>
                <a:latin typeface="Calibri"/>
              </a:rPr>
              <a:t>/api/forecast. /api/forecast/summary.</a:t>
            </a:r>
          </a:p>
        </p:txBody>
      </p:sp>
      <p:sp>
        <p:nvSpPr>
          <p:cNvPr id="25" name="TextBox 24"/>
          <p:cNvSpPr txBox="1"/>
          <p:nvPr/>
        </p:nvSpPr>
        <p:spPr>
          <a:xfrm>
            <a:off x="530352" y="4352544"/>
            <a:ext cx="3423818" cy="182880"/>
          </a:xfrm>
          <a:prstGeom prst="rect">
            <a:avLst/>
          </a:prstGeom>
          <a:noFill/>
        </p:spPr>
        <p:txBody>
          <a:bodyPr wrap="square" anchor="t" lIns="0" rIns="0" tIns="0" bIns="0">
            <a:spAutoFit/>
          </a:bodyPr>
          <a:lstStyle/>
          <a:p>
            <a:pPr algn="l"/>
            <a:r>
              <a:rPr sz="800" b="0">
                <a:solidFill>
                  <a:srgbClr val="555F6D"/>
                </a:solidFill>
                <a:latin typeface="Calibri"/>
              </a:rPr>
              <a:t>/api/forecast/models. /api/analytics/ensemble-forecast.</a:t>
            </a:r>
          </a:p>
        </p:txBody>
      </p:sp>
      <p:sp>
        <p:nvSpPr>
          <p:cNvPr id="26" name="TextBox 25"/>
          <p:cNvSpPr txBox="1"/>
          <p:nvPr/>
        </p:nvSpPr>
        <p:spPr>
          <a:xfrm>
            <a:off x="530352" y="4526280"/>
            <a:ext cx="3423818" cy="182880"/>
          </a:xfrm>
          <a:prstGeom prst="rect">
            <a:avLst/>
          </a:prstGeom>
          <a:noFill/>
        </p:spPr>
        <p:txBody>
          <a:bodyPr wrap="square" anchor="t" lIns="0" rIns="0" tIns="0" bIns="0">
            <a:spAutoFit/>
          </a:bodyPr>
          <a:lstStyle/>
          <a:p>
            <a:pPr algn="l"/>
            <a:r>
              <a:rPr sz="800" b="0">
                <a:solidFill>
                  <a:srgbClr val="555F6D"/>
                </a:solidFill>
                <a:latin typeface="Calibri"/>
              </a:rPr>
              <a:t>Modeles: ETS, Theta, ARIMA, SES, Holt-Winters, SNaive.</a:t>
            </a:r>
          </a:p>
        </p:txBody>
      </p:sp>
      <p:sp>
        <p:nvSpPr>
          <p:cNvPr id="27" name="Rectangle 26"/>
          <p:cNvSpPr/>
          <p:nvPr/>
        </p:nvSpPr>
        <p:spPr>
          <a:xfrm>
            <a:off x="4246778" y="1051560"/>
            <a:ext cx="3698138" cy="502920"/>
          </a:xfrm>
          <a:prstGeom prst="rect">
            <a:avLst/>
          </a:prstGeom>
          <a:solidFill>
            <a:srgbClr val="0A1F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383938" y="1097280"/>
            <a:ext cx="3423818" cy="228600"/>
          </a:xfrm>
          <a:prstGeom prst="rect">
            <a:avLst/>
          </a:prstGeom>
          <a:noFill/>
        </p:spPr>
        <p:txBody>
          <a:bodyPr wrap="square" anchor="t" lIns="0" rIns="0" tIns="0" bIns="0">
            <a:spAutoFit/>
          </a:bodyPr>
          <a:lstStyle/>
          <a:p>
            <a:pPr algn="l"/>
            <a:r>
              <a:rPr sz="1300" b="1">
                <a:solidFill>
                  <a:srgbClr val="FFFFFF"/>
                </a:solidFill>
                <a:latin typeface="Calibri"/>
              </a:rPr>
              <a:t>5. Simuler un projet IA</a:t>
            </a:r>
          </a:p>
        </p:txBody>
      </p:sp>
      <p:sp>
        <p:nvSpPr>
          <p:cNvPr id="29" name="TextBox 28"/>
          <p:cNvSpPr txBox="1"/>
          <p:nvPr/>
        </p:nvSpPr>
        <p:spPr>
          <a:xfrm>
            <a:off x="4383938" y="1307592"/>
            <a:ext cx="3423818" cy="201168"/>
          </a:xfrm>
          <a:prstGeom prst="rect">
            <a:avLst/>
          </a:prstGeom>
          <a:noFill/>
        </p:spPr>
        <p:txBody>
          <a:bodyPr wrap="square" anchor="t" lIns="0" rIns="0" tIns="0" bIns="0">
            <a:spAutoFit/>
          </a:bodyPr>
          <a:lstStyle/>
          <a:p>
            <a:pPr algn="l"/>
            <a:r>
              <a:rPr sz="900" b="0">
                <a:solidFill>
                  <a:srgbClr val="C7D2E5"/>
                </a:solidFill>
                <a:latin typeface="Calibri"/>
              </a:rPr>
              <a:t>Chiffrer avant d'engager. Comparer les architectures.</a:t>
            </a:r>
          </a:p>
        </p:txBody>
      </p:sp>
      <p:sp>
        <p:nvSpPr>
          <p:cNvPr id="30" name="Rectangle 29"/>
          <p:cNvSpPr/>
          <p:nvPr/>
        </p:nvSpPr>
        <p:spPr>
          <a:xfrm>
            <a:off x="4246778" y="1554480"/>
            <a:ext cx="3698138" cy="3794760"/>
          </a:xfrm>
          <a:prstGeom prst="rect">
            <a:avLst/>
          </a:prstGeom>
          <a:solidFill>
            <a:srgbClr val="FFFFFF"/>
          </a:solidFill>
          <a:ln>
            <a:solidFill>
              <a:srgbClr val="0A1F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383938" y="1645920"/>
            <a:ext cx="3423818" cy="274320"/>
          </a:xfrm>
          <a:prstGeom prst="rect">
            <a:avLst/>
          </a:prstGeom>
          <a:noFill/>
        </p:spPr>
        <p:txBody>
          <a:bodyPr wrap="square" anchor="t" lIns="0" rIns="0" tIns="0" bIns="0">
            <a:spAutoFit/>
          </a:bodyPr>
          <a:lstStyle/>
          <a:p>
            <a:pPr algn="l"/>
            <a:r>
              <a:rPr sz="1000" b="1">
                <a:solidFill>
                  <a:srgbClr val="E60028"/>
                </a:solidFill>
                <a:latin typeface="Calibri"/>
              </a:rPr>
              <a:t>Vous pouvez</a:t>
            </a:r>
          </a:p>
        </p:txBody>
      </p:sp>
      <p:sp>
        <p:nvSpPr>
          <p:cNvPr id="32" name="Rectangle 31"/>
          <p:cNvSpPr/>
          <p:nvPr/>
        </p:nvSpPr>
        <p:spPr>
          <a:xfrm>
            <a:off x="4411370" y="2002536"/>
            <a:ext cx="73152" cy="73152"/>
          </a:xfrm>
          <a:prstGeom prst="rect">
            <a:avLst/>
          </a:prstGeom>
          <a:solidFill>
            <a:srgbClr val="E600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566818" y="1920240"/>
            <a:ext cx="3240938" cy="457200"/>
          </a:xfrm>
          <a:prstGeom prst="rect">
            <a:avLst/>
          </a:prstGeom>
          <a:noFill/>
        </p:spPr>
        <p:txBody>
          <a:bodyPr wrap="square" anchor="t" lIns="0" rIns="0" tIns="0" bIns="0">
            <a:spAutoFit/>
          </a:bodyPr>
          <a:lstStyle/>
          <a:p>
            <a:pPr algn="l"/>
            <a:r>
              <a:rPr sz="1000" b="0">
                <a:solidFill>
                  <a:srgbClr val="0A1F44"/>
                </a:solidFill>
                <a:latin typeface="Calibri"/>
              </a:rPr>
              <a:t>Estimer le cout mensuel d'un projet IA a partir de vos hypotheses metier.</a:t>
            </a:r>
          </a:p>
        </p:txBody>
      </p:sp>
      <p:sp>
        <p:nvSpPr>
          <p:cNvPr id="34" name="Rectangle 33"/>
          <p:cNvSpPr/>
          <p:nvPr/>
        </p:nvSpPr>
        <p:spPr>
          <a:xfrm>
            <a:off x="4411370" y="2386584"/>
            <a:ext cx="73152" cy="73152"/>
          </a:xfrm>
          <a:prstGeom prst="rect">
            <a:avLst/>
          </a:prstGeom>
          <a:solidFill>
            <a:srgbClr val="E600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566818" y="2304288"/>
            <a:ext cx="3240938" cy="457200"/>
          </a:xfrm>
          <a:prstGeom prst="rect">
            <a:avLst/>
          </a:prstGeom>
          <a:noFill/>
        </p:spPr>
        <p:txBody>
          <a:bodyPr wrap="square" anchor="t" lIns="0" rIns="0" tIns="0" bIns="0">
            <a:spAutoFit/>
          </a:bodyPr>
          <a:lstStyle/>
          <a:p>
            <a:pPr algn="l"/>
            <a:r>
              <a:rPr sz="1000" b="0">
                <a:solidFill>
                  <a:srgbClr val="0A1F44"/>
                </a:solidFill>
                <a:latin typeface="Calibri"/>
              </a:rPr>
              <a:t>Choisir votre LLM dans un catalogue de pricing actualise.</a:t>
            </a:r>
          </a:p>
        </p:txBody>
      </p:sp>
      <p:sp>
        <p:nvSpPr>
          <p:cNvPr id="36" name="Rectangle 35"/>
          <p:cNvSpPr/>
          <p:nvPr/>
        </p:nvSpPr>
        <p:spPr>
          <a:xfrm>
            <a:off x="4411370" y="2770632"/>
            <a:ext cx="73152" cy="73152"/>
          </a:xfrm>
          <a:prstGeom prst="rect">
            <a:avLst/>
          </a:prstGeom>
          <a:solidFill>
            <a:srgbClr val="E600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566818" y="2688336"/>
            <a:ext cx="3240938" cy="457200"/>
          </a:xfrm>
          <a:prstGeom prst="rect">
            <a:avLst/>
          </a:prstGeom>
          <a:noFill/>
        </p:spPr>
        <p:txBody>
          <a:bodyPr wrap="square" anchor="t" lIns="0" rIns="0" tIns="0" bIns="0">
            <a:spAutoFit/>
          </a:bodyPr>
          <a:lstStyle/>
          <a:p>
            <a:pPr algn="l"/>
            <a:r>
              <a:rPr sz="1000" b="0">
                <a:solidFill>
                  <a:srgbClr val="0A1F44"/>
                </a:solidFill>
                <a:latin typeface="Calibri"/>
              </a:rPr>
              <a:t>Modeliser tools, RAG, agents, deploiement, volume d'utilisateurs.</a:t>
            </a:r>
          </a:p>
        </p:txBody>
      </p:sp>
      <p:sp>
        <p:nvSpPr>
          <p:cNvPr id="38" name="Rectangle 37"/>
          <p:cNvSpPr/>
          <p:nvPr/>
        </p:nvSpPr>
        <p:spPr>
          <a:xfrm>
            <a:off x="4411370" y="3154680"/>
            <a:ext cx="73152" cy="73152"/>
          </a:xfrm>
          <a:prstGeom prst="rect">
            <a:avLst/>
          </a:prstGeom>
          <a:solidFill>
            <a:srgbClr val="E600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566818" y="3072384"/>
            <a:ext cx="3240938" cy="457200"/>
          </a:xfrm>
          <a:prstGeom prst="rect">
            <a:avLst/>
          </a:prstGeom>
          <a:noFill/>
        </p:spPr>
        <p:txBody>
          <a:bodyPr wrap="square" anchor="t" lIns="0" rIns="0" tIns="0" bIns="0">
            <a:spAutoFit/>
          </a:bodyPr>
          <a:lstStyle/>
          <a:p>
            <a:pPr algn="l"/>
            <a:r>
              <a:rPr sz="1000" b="0">
                <a:solidFill>
                  <a:srgbClr val="0A1F44"/>
                </a:solidFill>
                <a:latin typeface="Calibri"/>
              </a:rPr>
              <a:t>Recevoir 2 a 3 recommandations d'architecture avec gain chiffre.</a:t>
            </a:r>
          </a:p>
        </p:txBody>
      </p:sp>
      <p:sp>
        <p:nvSpPr>
          <p:cNvPr id="40" name="Rectangle 39"/>
          <p:cNvSpPr/>
          <p:nvPr/>
        </p:nvSpPr>
        <p:spPr>
          <a:xfrm>
            <a:off x="4411370" y="3538728"/>
            <a:ext cx="73152" cy="73152"/>
          </a:xfrm>
          <a:prstGeom prst="rect">
            <a:avLst/>
          </a:prstGeom>
          <a:solidFill>
            <a:srgbClr val="E600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566818" y="3456432"/>
            <a:ext cx="3240938" cy="457200"/>
          </a:xfrm>
          <a:prstGeom prst="rect">
            <a:avLst/>
          </a:prstGeom>
          <a:noFill/>
        </p:spPr>
        <p:txBody>
          <a:bodyPr wrap="square" anchor="t" lIns="0" rIns="0" tIns="0" bIns="0">
            <a:spAutoFit/>
          </a:bodyPr>
          <a:lstStyle/>
          <a:p>
            <a:pPr algn="l"/>
            <a:r>
              <a:rPr sz="1000" b="0">
                <a:solidFill>
                  <a:srgbClr val="0A1F44"/>
                </a:solidFill>
                <a:latin typeface="Calibri"/>
              </a:rPr>
              <a:t>Obtenir une matrice de risques et les axes d'optimisation prioritaires.</a:t>
            </a:r>
          </a:p>
        </p:txBody>
      </p:sp>
      <p:sp>
        <p:nvSpPr>
          <p:cNvPr id="42" name="Rectangle 41"/>
          <p:cNvSpPr/>
          <p:nvPr/>
        </p:nvSpPr>
        <p:spPr>
          <a:xfrm>
            <a:off x="4383938" y="3886200"/>
            <a:ext cx="3423818" cy="18288"/>
          </a:xfrm>
          <a:prstGeom prst="rect">
            <a:avLst/>
          </a:prstGeom>
          <a:solidFill>
            <a:srgbClr val="F2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383938" y="3977640"/>
            <a:ext cx="3423818" cy="201168"/>
          </a:xfrm>
          <a:prstGeom prst="rect">
            <a:avLst/>
          </a:prstGeom>
          <a:noFill/>
        </p:spPr>
        <p:txBody>
          <a:bodyPr wrap="square" anchor="t" lIns="0" rIns="0" tIns="0" bIns="0">
            <a:spAutoFit/>
          </a:bodyPr>
          <a:lstStyle/>
          <a:p>
            <a:pPr algn="l"/>
            <a:r>
              <a:rPr sz="800" b="1">
                <a:solidFill>
                  <a:srgbClr val="555F6D"/>
                </a:solidFill>
                <a:latin typeface="Calibri"/>
              </a:rPr>
              <a:t>Points d'entree techniques</a:t>
            </a:r>
          </a:p>
        </p:txBody>
      </p:sp>
      <p:sp>
        <p:nvSpPr>
          <p:cNvPr id="44" name="TextBox 43"/>
          <p:cNvSpPr txBox="1"/>
          <p:nvPr/>
        </p:nvSpPr>
        <p:spPr>
          <a:xfrm>
            <a:off x="4411370" y="4178808"/>
            <a:ext cx="3423818" cy="182880"/>
          </a:xfrm>
          <a:prstGeom prst="rect">
            <a:avLst/>
          </a:prstGeom>
          <a:noFill/>
        </p:spPr>
        <p:txBody>
          <a:bodyPr wrap="square" anchor="t" lIns="0" rIns="0" tIns="0" bIns="0">
            <a:spAutoFit/>
          </a:bodyPr>
          <a:lstStyle/>
          <a:p>
            <a:pPr algn="l"/>
            <a:r>
              <a:rPr sz="800" b="0">
                <a:solidFill>
                  <a:srgbClr val="555F6D"/>
                </a:solidFill>
                <a:latin typeface="Calibri"/>
              </a:rPr>
              <a:t>/api/simulate. /api/simulate/reference-catalog.</a:t>
            </a:r>
          </a:p>
        </p:txBody>
      </p:sp>
      <p:sp>
        <p:nvSpPr>
          <p:cNvPr id="45" name="TextBox 44"/>
          <p:cNvSpPr txBox="1"/>
          <p:nvPr/>
        </p:nvSpPr>
        <p:spPr>
          <a:xfrm>
            <a:off x="4411370" y="4352544"/>
            <a:ext cx="3423818" cy="182880"/>
          </a:xfrm>
          <a:prstGeom prst="rect">
            <a:avLst/>
          </a:prstGeom>
          <a:noFill/>
        </p:spPr>
        <p:txBody>
          <a:bodyPr wrap="square" anchor="t" lIns="0" rIns="0" tIns="0" bIns="0">
            <a:spAutoFit/>
          </a:bodyPr>
          <a:lstStyle/>
          <a:p>
            <a:pPr algn="l"/>
            <a:r>
              <a:rPr sz="800" b="0">
                <a:solidFill>
                  <a:srgbClr val="555F6D"/>
                </a:solidFill>
                <a:latin typeface="Calibri"/>
              </a:rPr>
              <a:t>Modules: CostBreakdown, ArchitectureRecommendation.</a:t>
            </a:r>
          </a:p>
        </p:txBody>
      </p:sp>
      <p:sp>
        <p:nvSpPr>
          <p:cNvPr id="46" name="TextBox 45"/>
          <p:cNvSpPr txBox="1"/>
          <p:nvPr/>
        </p:nvSpPr>
        <p:spPr>
          <a:xfrm>
            <a:off x="4411370" y="4526280"/>
            <a:ext cx="3423818" cy="182880"/>
          </a:xfrm>
          <a:prstGeom prst="rect">
            <a:avLst/>
          </a:prstGeom>
          <a:noFill/>
        </p:spPr>
        <p:txBody>
          <a:bodyPr wrap="square" anchor="t" lIns="0" rIns="0" tIns="0" bIns="0">
            <a:spAutoFit/>
          </a:bodyPr>
          <a:lstStyle/>
          <a:p>
            <a:pPr algn="l"/>
            <a:r>
              <a:rPr sz="800" b="0">
                <a:solidFill>
                  <a:srgbClr val="555F6D"/>
                </a:solidFill>
                <a:latin typeface="Calibri"/>
              </a:rPr>
              <a:t>RiskAssessment. ProjectedEvents.</a:t>
            </a:r>
          </a:p>
        </p:txBody>
      </p:sp>
      <p:sp>
        <p:nvSpPr>
          <p:cNvPr id="47" name="Rectangle 46"/>
          <p:cNvSpPr/>
          <p:nvPr/>
        </p:nvSpPr>
        <p:spPr>
          <a:xfrm>
            <a:off x="8127796" y="1051560"/>
            <a:ext cx="3698138" cy="502920"/>
          </a:xfrm>
          <a:prstGeom prst="rect">
            <a:avLst/>
          </a:prstGeom>
          <a:solidFill>
            <a:srgbClr val="0A1F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264956" y="1097280"/>
            <a:ext cx="3423818" cy="228600"/>
          </a:xfrm>
          <a:prstGeom prst="rect">
            <a:avLst/>
          </a:prstGeom>
          <a:noFill/>
        </p:spPr>
        <p:txBody>
          <a:bodyPr wrap="square" anchor="t" lIns="0" rIns="0" tIns="0" bIns="0">
            <a:spAutoFit/>
          </a:bodyPr>
          <a:lstStyle/>
          <a:p>
            <a:pPr algn="l"/>
            <a:r>
              <a:rPr sz="1300" b="1">
                <a:solidFill>
                  <a:srgbClr val="FFFFFF"/>
                </a:solidFill>
                <a:latin typeface="Calibri"/>
              </a:rPr>
              <a:t>6. Arbitrer les scenarios</a:t>
            </a:r>
          </a:p>
        </p:txBody>
      </p:sp>
      <p:sp>
        <p:nvSpPr>
          <p:cNvPr id="49" name="TextBox 48"/>
          <p:cNvSpPr txBox="1"/>
          <p:nvPr/>
        </p:nvSpPr>
        <p:spPr>
          <a:xfrm>
            <a:off x="8264956" y="1307592"/>
            <a:ext cx="3423818" cy="201168"/>
          </a:xfrm>
          <a:prstGeom prst="rect">
            <a:avLst/>
          </a:prstGeom>
          <a:noFill/>
        </p:spPr>
        <p:txBody>
          <a:bodyPr wrap="square" anchor="t" lIns="0" rIns="0" tIns="0" bIns="0">
            <a:spAutoFit/>
          </a:bodyPr>
          <a:lstStyle/>
          <a:p>
            <a:pPr algn="l"/>
            <a:r>
              <a:rPr sz="900" b="0">
                <a:solidFill>
                  <a:srgbClr val="C7D2E5"/>
                </a:solidFill>
                <a:latin typeface="Calibri"/>
              </a:rPr>
              <a:t>Un tableau de bord pour trancher entre plusieurs options.</a:t>
            </a:r>
          </a:p>
        </p:txBody>
      </p:sp>
      <p:sp>
        <p:nvSpPr>
          <p:cNvPr id="50" name="Rectangle 49"/>
          <p:cNvSpPr/>
          <p:nvPr/>
        </p:nvSpPr>
        <p:spPr>
          <a:xfrm>
            <a:off x="8127796" y="1554480"/>
            <a:ext cx="3698138" cy="3794760"/>
          </a:xfrm>
          <a:prstGeom prst="rect">
            <a:avLst/>
          </a:prstGeom>
          <a:solidFill>
            <a:srgbClr val="FFFFFF"/>
          </a:solidFill>
          <a:ln>
            <a:solidFill>
              <a:srgbClr val="0A1F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8264956" y="1645920"/>
            <a:ext cx="3423818" cy="274320"/>
          </a:xfrm>
          <a:prstGeom prst="rect">
            <a:avLst/>
          </a:prstGeom>
          <a:noFill/>
        </p:spPr>
        <p:txBody>
          <a:bodyPr wrap="square" anchor="t" lIns="0" rIns="0" tIns="0" bIns="0">
            <a:spAutoFit/>
          </a:bodyPr>
          <a:lstStyle/>
          <a:p>
            <a:pPr algn="l"/>
            <a:r>
              <a:rPr sz="1000" b="1">
                <a:solidFill>
                  <a:srgbClr val="E60028"/>
                </a:solidFill>
                <a:latin typeface="Calibri"/>
              </a:rPr>
              <a:t>Vous pouvez</a:t>
            </a:r>
          </a:p>
        </p:txBody>
      </p:sp>
      <p:sp>
        <p:nvSpPr>
          <p:cNvPr id="52" name="Rectangle 51"/>
          <p:cNvSpPr/>
          <p:nvPr/>
        </p:nvSpPr>
        <p:spPr>
          <a:xfrm>
            <a:off x="8292388" y="2002536"/>
            <a:ext cx="73152" cy="73152"/>
          </a:xfrm>
          <a:prstGeom prst="rect">
            <a:avLst/>
          </a:prstGeom>
          <a:solidFill>
            <a:srgbClr val="E600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8447836" y="1920240"/>
            <a:ext cx="3240938" cy="457200"/>
          </a:xfrm>
          <a:prstGeom prst="rect">
            <a:avLst/>
          </a:prstGeom>
          <a:noFill/>
        </p:spPr>
        <p:txBody>
          <a:bodyPr wrap="square" anchor="t" lIns="0" rIns="0" tIns="0" bIns="0">
            <a:spAutoFit/>
          </a:bodyPr>
          <a:lstStyle/>
          <a:p>
            <a:pPr algn="l"/>
            <a:r>
              <a:rPr sz="1000" b="0">
                <a:solidFill>
                  <a:srgbClr val="0A1F44"/>
                </a:solidFill>
                <a:latin typeface="Calibri"/>
              </a:rPr>
              <a:t>Comparer plusieurs scenarios simules cote a cote.</a:t>
            </a:r>
          </a:p>
        </p:txBody>
      </p:sp>
      <p:sp>
        <p:nvSpPr>
          <p:cNvPr id="54" name="Rectangle 53"/>
          <p:cNvSpPr/>
          <p:nvPr/>
        </p:nvSpPr>
        <p:spPr>
          <a:xfrm>
            <a:off x="8292388" y="2386584"/>
            <a:ext cx="73152" cy="73152"/>
          </a:xfrm>
          <a:prstGeom prst="rect">
            <a:avLst/>
          </a:prstGeom>
          <a:solidFill>
            <a:srgbClr val="E600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8447836" y="2304288"/>
            <a:ext cx="3240938" cy="457200"/>
          </a:xfrm>
          <a:prstGeom prst="rect">
            <a:avLst/>
          </a:prstGeom>
          <a:noFill/>
        </p:spPr>
        <p:txBody>
          <a:bodyPr wrap="square" anchor="t" lIns="0" rIns="0" tIns="0" bIns="0">
            <a:spAutoFit/>
          </a:bodyPr>
          <a:lstStyle/>
          <a:p>
            <a:pPr algn="l"/>
            <a:r>
              <a:rPr sz="1000" b="0">
                <a:solidFill>
                  <a:srgbClr val="0A1F44"/>
                </a:solidFill>
                <a:latin typeface="Calibri"/>
              </a:rPr>
              <a:t>Sauvegarder les scenarios pour les rejouer avec de nouvelles hypotheses.</a:t>
            </a:r>
          </a:p>
        </p:txBody>
      </p:sp>
      <p:sp>
        <p:nvSpPr>
          <p:cNvPr id="56" name="Rectangle 55"/>
          <p:cNvSpPr/>
          <p:nvPr/>
        </p:nvSpPr>
        <p:spPr>
          <a:xfrm>
            <a:off x="8292388" y="2770632"/>
            <a:ext cx="73152" cy="73152"/>
          </a:xfrm>
          <a:prstGeom prst="rect">
            <a:avLst/>
          </a:prstGeom>
          <a:solidFill>
            <a:srgbClr val="E600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8447836" y="2688336"/>
            <a:ext cx="3240938" cy="457200"/>
          </a:xfrm>
          <a:prstGeom prst="rect">
            <a:avLst/>
          </a:prstGeom>
          <a:noFill/>
        </p:spPr>
        <p:txBody>
          <a:bodyPr wrap="square" anchor="t" lIns="0" rIns="0" tIns="0" bIns="0">
            <a:spAutoFit/>
          </a:bodyPr>
          <a:lstStyle/>
          <a:p>
            <a:pPr algn="l"/>
            <a:r>
              <a:rPr sz="1000" b="0">
                <a:solidFill>
                  <a:srgbClr val="0A1F44"/>
                </a:solidFill>
                <a:latin typeface="Calibri"/>
              </a:rPr>
              <a:t>Visualiser l'impact d'une reduction de tokens, d'un changement de modele.</a:t>
            </a:r>
          </a:p>
        </p:txBody>
      </p:sp>
      <p:sp>
        <p:nvSpPr>
          <p:cNvPr id="58" name="Rectangle 57"/>
          <p:cNvSpPr/>
          <p:nvPr/>
        </p:nvSpPr>
        <p:spPr>
          <a:xfrm>
            <a:off x="8292388" y="3154680"/>
            <a:ext cx="73152" cy="73152"/>
          </a:xfrm>
          <a:prstGeom prst="rect">
            <a:avLst/>
          </a:prstGeom>
          <a:solidFill>
            <a:srgbClr val="E600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8447836" y="3072384"/>
            <a:ext cx="3240938" cy="457200"/>
          </a:xfrm>
          <a:prstGeom prst="rect">
            <a:avLst/>
          </a:prstGeom>
          <a:noFill/>
        </p:spPr>
        <p:txBody>
          <a:bodyPr wrap="square" anchor="t" lIns="0" rIns="0" tIns="0" bIns="0">
            <a:spAutoFit/>
          </a:bodyPr>
          <a:lstStyle/>
          <a:p>
            <a:pPr algn="l"/>
            <a:r>
              <a:rPr sz="1000" b="0">
                <a:solidFill>
                  <a:srgbClr val="0A1F44"/>
                </a:solidFill>
                <a:latin typeface="Calibri"/>
              </a:rPr>
              <a:t>Exporter le comparatif en support de comite d'investissement.</a:t>
            </a:r>
          </a:p>
        </p:txBody>
      </p:sp>
      <p:sp>
        <p:nvSpPr>
          <p:cNvPr id="60" name="Rectangle 59"/>
          <p:cNvSpPr/>
          <p:nvPr/>
        </p:nvSpPr>
        <p:spPr>
          <a:xfrm>
            <a:off x="8292388" y="3538728"/>
            <a:ext cx="73152" cy="73152"/>
          </a:xfrm>
          <a:prstGeom prst="rect">
            <a:avLst/>
          </a:prstGeom>
          <a:solidFill>
            <a:srgbClr val="E600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8447836" y="3456432"/>
            <a:ext cx="3240938" cy="457200"/>
          </a:xfrm>
          <a:prstGeom prst="rect">
            <a:avLst/>
          </a:prstGeom>
          <a:noFill/>
        </p:spPr>
        <p:txBody>
          <a:bodyPr wrap="square" anchor="t" lIns="0" rIns="0" tIns="0" bIns="0">
            <a:spAutoFit/>
          </a:bodyPr>
          <a:lstStyle/>
          <a:p>
            <a:pPr algn="l"/>
            <a:r>
              <a:rPr sz="1000" b="0">
                <a:solidFill>
                  <a:srgbClr val="0A1F44"/>
                </a:solidFill>
                <a:latin typeface="Calibri"/>
              </a:rPr>
              <a:t>Tracer les evenements coup projetes sur les 12 prochains mois.</a:t>
            </a:r>
          </a:p>
        </p:txBody>
      </p:sp>
      <p:sp>
        <p:nvSpPr>
          <p:cNvPr id="62" name="Rectangle 61"/>
          <p:cNvSpPr/>
          <p:nvPr/>
        </p:nvSpPr>
        <p:spPr>
          <a:xfrm>
            <a:off x="8264956" y="3886200"/>
            <a:ext cx="3423818" cy="18288"/>
          </a:xfrm>
          <a:prstGeom prst="rect">
            <a:avLst/>
          </a:prstGeom>
          <a:solidFill>
            <a:srgbClr val="F2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8264956" y="3977640"/>
            <a:ext cx="3423818" cy="201168"/>
          </a:xfrm>
          <a:prstGeom prst="rect">
            <a:avLst/>
          </a:prstGeom>
          <a:noFill/>
        </p:spPr>
        <p:txBody>
          <a:bodyPr wrap="square" anchor="t" lIns="0" rIns="0" tIns="0" bIns="0">
            <a:spAutoFit/>
          </a:bodyPr>
          <a:lstStyle/>
          <a:p>
            <a:pPr algn="l"/>
            <a:r>
              <a:rPr sz="800" b="1">
                <a:solidFill>
                  <a:srgbClr val="555F6D"/>
                </a:solidFill>
                <a:latin typeface="Calibri"/>
              </a:rPr>
              <a:t>Points d'entree techniques</a:t>
            </a:r>
          </a:p>
        </p:txBody>
      </p:sp>
      <p:sp>
        <p:nvSpPr>
          <p:cNvPr id="64" name="TextBox 63"/>
          <p:cNvSpPr txBox="1"/>
          <p:nvPr/>
        </p:nvSpPr>
        <p:spPr>
          <a:xfrm>
            <a:off x="8292388" y="4178808"/>
            <a:ext cx="3423818" cy="182880"/>
          </a:xfrm>
          <a:prstGeom prst="rect">
            <a:avLst/>
          </a:prstGeom>
          <a:noFill/>
        </p:spPr>
        <p:txBody>
          <a:bodyPr wrap="square" anchor="t" lIns="0" rIns="0" tIns="0" bIns="0">
            <a:spAutoFit/>
          </a:bodyPr>
          <a:lstStyle/>
          <a:p>
            <a:pPr algn="l"/>
            <a:r>
              <a:rPr sz="800" b="0">
                <a:solidFill>
                  <a:srgbClr val="555F6D"/>
                </a:solidFill>
                <a:latin typeface="Calibri"/>
              </a:rPr>
              <a:t>/api/simulate. /simulation UI.</a:t>
            </a:r>
          </a:p>
        </p:txBody>
      </p:sp>
      <p:sp>
        <p:nvSpPr>
          <p:cNvPr id="65" name="TextBox 64"/>
          <p:cNvSpPr txBox="1"/>
          <p:nvPr/>
        </p:nvSpPr>
        <p:spPr>
          <a:xfrm>
            <a:off x="8292388" y="4352544"/>
            <a:ext cx="3423818" cy="182880"/>
          </a:xfrm>
          <a:prstGeom prst="rect">
            <a:avLst/>
          </a:prstGeom>
          <a:noFill/>
        </p:spPr>
        <p:txBody>
          <a:bodyPr wrap="square" anchor="t" lIns="0" rIns="0" tIns="0" bIns="0">
            <a:spAutoFit/>
          </a:bodyPr>
          <a:lstStyle/>
          <a:p>
            <a:pPr algn="l"/>
            <a:r>
              <a:rPr sz="800" b="0">
                <a:solidFill>
                  <a:srgbClr val="555F6D"/>
                </a:solidFill>
                <a:latin typeface="Calibri"/>
              </a:rPr>
              <a:t>/api/analytics/scaling. /api/analytics/dim-reduction.</a:t>
            </a:r>
          </a:p>
        </p:txBody>
      </p:sp>
      <p:sp>
        <p:nvSpPr>
          <p:cNvPr id="66" name="TextBox 65"/>
          <p:cNvSpPr txBox="1"/>
          <p:nvPr/>
        </p:nvSpPr>
        <p:spPr>
          <a:xfrm>
            <a:off x="8292388" y="4526280"/>
            <a:ext cx="3423818" cy="182880"/>
          </a:xfrm>
          <a:prstGeom prst="rect">
            <a:avLst/>
          </a:prstGeom>
          <a:noFill/>
        </p:spPr>
        <p:txBody>
          <a:bodyPr wrap="square" anchor="t" lIns="0" rIns="0" tIns="0" bIns="0">
            <a:spAutoFit/>
          </a:bodyPr>
          <a:lstStyle/>
          <a:p>
            <a:pPr algn="l"/>
            <a:r>
              <a:rPr sz="800" b="0">
                <a:solidFill>
                  <a:srgbClr val="555F6D"/>
                </a:solidFill>
                <a:latin typeface="Calibri"/>
              </a:rPr>
              <a:t>Historique par session utilisateur.</a:t>
            </a:r>
          </a:p>
        </p:txBody>
      </p:sp>
      <p:sp>
        <p:nvSpPr>
          <p:cNvPr id="67" name="Rectangle 66"/>
          <p:cNvSpPr/>
          <p:nvPr/>
        </p:nvSpPr>
        <p:spPr>
          <a:xfrm>
            <a:off x="365760" y="5440680"/>
            <a:ext cx="11460175" cy="914400"/>
          </a:xfrm>
          <a:prstGeom prst="rect">
            <a:avLst/>
          </a:prstGeom>
          <a:solidFill>
            <a:srgbClr val="F2F4F8"/>
          </a:solidFill>
          <a:ln>
            <a:solidFill>
              <a:srgbClr val="0A1F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365760" y="5440680"/>
            <a:ext cx="137160" cy="914400"/>
          </a:xfrm>
          <a:prstGeom prst="rect">
            <a:avLst/>
          </a:prstGeom>
          <a:solidFill>
            <a:srgbClr val="E600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640080" y="5513832"/>
            <a:ext cx="2286000" cy="274320"/>
          </a:xfrm>
          <a:prstGeom prst="rect">
            <a:avLst/>
          </a:prstGeom>
          <a:noFill/>
        </p:spPr>
        <p:txBody>
          <a:bodyPr wrap="square" anchor="t" lIns="0" rIns="0" tIns="0" bIns="0">
            <a:spAutoFit/>
          </a:bodyPr>
          <a:lstStyle/>
          <a:p>
            <a:pPr algn="l"/>
            <a:r>
              <a:rPr sz="1100" b="1">
                <a:solidFill>
                  <a:srgbClr val="E60028"/>
                </a:solidFill>
                <a:latin typeface="Calibri"/>
              </a:rPr>
              <a:t>En pratique. Une DSI d'assureur qui hesite entre trois architectures RAG.</a:t>
            </a:r>
          </a:p>
        </p:txBody>
      </p:sp>
      <p:sp>
        <p:nvSpPr>
          <p:cNvPr id="70" name="TextBox 69"/>
          <p:cNvSpPr txBox="1"/>
          <p:nvPr/>
        </p:nvSpPr>
        <p:spPr>
          <a:xfrm>
            <a:off x="640080" y="5760720"/>
            <a:ext cx="11002975" cy="548640"/>
          </a:xfrm>
          <a:prstGeom prst="rect">
            <a:avLst/>
          </a:prstGeom>
          <a:noFill/>
        </p:spPr>
        <p:txBody>
          <a:bodyPr wrap="square" anchor="t" lIns="0" rIns="0" tIns="0" bIns="0">
            <a:spAutoFit/>
          </a:bodyPr>
          <a:lstStyle/>
          <a:p>
            <a:pPr algn="l"/>
            <a:r>
              <a:rPr sz="1000" b="0">
                <a:solidFill>
                  <a:srgbClr val="0A1F44"/>
                </a:solidFill>
                <a:latin typeface="Calibri"/>
              </a:rPr>
              <a:t>Elle doit trancher en comite d'investissement dans 10 jours. Elle lance trois simulations en 15 minutes, compare le cout mensuel, les risques et les recommandations d'archi. La solution isole une reco de cache semantique qui divise par deux le poste LLM sans degrader la qualite. Resultat. Decision documentee, chiffree, defendable devant COMEX. Payback outil sous 3 semaines.</a:t>
            </a:r>
          </a:p>
        </p:txBody>
      </p:sp>
      <p:sp>
        <p:nvSpPr>
          <p:cNvPr id="71" name="TextBox 70"/>
          <p:cNvSpPr txBox="1"/>
          <p:nvPr/>
        </p:nvSpPr>
        <p:spPr>
          <a:xfrm>
            <a:off x="365760" y="6537960"/>
            <a:ext cx="9144000" cy="274320"/>
          </a:xfrm>
          <a:prstGeom prst="rect">
            <a:avLst/>
          </a:prstGeom>
          <a:noFill/>
        </p:spPr>
        <p:txBody>
          <a:bodyPr wrap="square" anchor="t" lIns="0" rIns="0" tIns="0" bIns="0">
            <a:spAutoFit/>
          </a:bodyPr>
          <a:lstStyle/>
          <a:p>
            <a:pPr algn="l"/>
            <a:r>
              <a:rPr sz="900" b="0">
                <a:solidFill>
                  <a:srgbClr val="555F6D"/>
                </a:solidFill>
                <a:latin typeface="Calibri"/>
              </a:rPr>
              <a:t>Sia. FinOps AI Platform. Confidential.</a:t>
            </a:r>
          </a:p>
        </p:txBody>
      </p:sp>
      <p:sp>
        <p:nvSpPr>
          <p:cNvPr id="72" name="TextBox 71"/>
          <p:cNvSpPr txBox="1"/>
          <p:nvPr/>
        </p:nvSpPr>
        <p:spPr>
          <a:xfrm>
            <a:off x="11430000" y="6537960"/>
            <a:ext cx="548640" cy="274320"/>
          </a:xfrm>
          <a:prstGeom prst="rect">
            <a:avLst/>
          </a:prstGeom>
          <a:noFill/>
        </p:spPr>
        <p:txBody>
          <a:bodyPr wrap="square" anchor="t" lIns="0" rIns="0" tIns="0" bIns="0">
            <a:spAutoFit/>
          </a:bodyPr>
          <a:lstStyle/>
          <a:p>
            <a:pPr algn="r"/>
            <a:r>
              <a:rPr sz="900" b="0">
                <a:solidFill>
                  <a:srgbClr val="555F6D"/>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0A1F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77240"/>
            <a:ext cx="12191695" cy="45720"/>
          </a:xfrm>
          <a:prstGeom prst="rect">
            <a:avLst/>
          </a:prstGeom>
          <a:solidFill>
            <a:srgbClr val="E600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09728"/>
            <a:ext cx="10058400" cy="457200"/>
          </a:xfrm>
          <a:prstGeom prst="rect">
            <a:avLst/>
          </a:prstGeom>
          <a:noFill/>
        </p:spPr>
        <p:txBody>
          <a:bodyPr wrap="square" anchor="t" lIns="0" rIns="0" tIns="0" bIns="0">
            <a:spAutoFit/>
          </a:bodyPr>
          <a:lstStyle/>
          <a:p>
            <a:pPr algn="l"/>
            <a:r>
              <a:rPr sz="2200" b="1">
                <a:solidFill>
                  <a:srgbClr val="FFFFFF"/>
                </a:solidFill>
                <a:latin typeface="Calibri"/>
              </a:rPr>
              <a:t>Piloter au quotidien via un agent IA</a:t>
            </a:r>
          </a:p>
        </p:txBody>
      </p:sp>
      <p:sp>
        <p:nvSpPr>
          <p:cNvPr id="5" name="TextBox 4"/>
          <p:cNvSpPr txBox="1"/>
          <p:nvPr/>
        </p:nvSpPr>
        <p:spPr>
          <a:xfrm>
            <a:off x="365760" y="457200"/>
            <a:ext cx="10058400" cy="320040"/>
          </a:xfrm>
          <a:prstGeom prst="rect">
            <a:avLst/>
          </a:prstGeom>
          <a:noFill/>
        </p:spPr>
        <p:txBody>
          <a:bodyPr wrap="square" anchor="t" lIns="0" rIns="0" tIns="0" bIns="0">
            <a:spAutoFit/>
          </a:bodyPr>
          <a:lstStyle/>
          <a:p>
            <a:pPr algn="l"/>
            <a:r>
              <a:rPr sz="1100" b="0">
                <a:solidFill>
                  <a:srgbClr val="C7D2E5"/>
                </a:solidFill>
                <a:latin typeface="Calibri"/>
              </a:rPr>
              <a:t>Ce que vous pouvez faire quand vous voulez industrialiser l'usage FinOps</a:t>
            </a:r>
          </a:p>
        </p:txBody>
      </p:sp>
      <p:sp>
        <p:nvSpPr>
          <p:cNvPr id="6" name="TextBox 5"/>
          <p:cNvSpPr txBox="1"/>
          <p:nvPr/>
        </p:nvSpPr>
        <p:spPr>
          <a:xfrm>
            <a:off x="11155680" y="256032"/>
            <a:ext cx="914400" cy="320040"/>
          </a:xfrm>
          <a:prstGeom prst="rect">
            <a:avLst/>
          </a:prstGeom>
          <a:noFill/>
        </p:spPr>
        <p:txBody>
          <a:bodyPr wrap="square" anchor="t" lIns="0" rIns="0" tIns="0" bIns="0">
            <a:spAutoFit/>
          </a:bodyPr>
          <a:lstStyle/>
          <a:p>
            <a:pPr algn="r"/>
            <a:r>
              <a:rPr sz="1400" b="1">
                <a:solidFill>
                  <a:srgbClr val="FFFFFF"/>
                </a:solidFill>
                <a:latin typeface="Calibri"/>
              </a:rPr>
              <a:t>Sia</a:t>
            </a:r>
          </a:p>
        </p:txBody>
      </p:sp>
      <p:sp>
        <p:nvSpPr>
          <p:cNvPr id="7" name="Rectangle 6"/>
          <p:cNvSpPr/>
          <p:nvPr/>
        </p:nvSpPr>
        <p:spPr>
          <a:xfrm>
            <a:off x="365760" y="1051560"/>
            <a:ext cx="3698138" cy="502920"/>
          </a:xfrm>
          <a:prstGeom prst="rect">
            <a:avLst/>
          </a:prstGeom>
          <a:solidFill>
            <a:srgbClr val="0A1F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1097280"/>
            <a:ext cx="3423818" cy="228600"/>
          </a:xfrm>
          <a:prstGeom prst="rect">
            <a:avLst/>
          </a:prstGeom>
          <a:noFill/>
        </p:spPr>
        <p:txBody>
          <a:bodyPr wrap="square" anchor="t" lIns="0" rIns="0" tIns="0" bIns="0">
            <a:spAutoFit/>
          </a:bodyPr>
          <a:lstStyle/>
          <a:p>
            <a:pPr algn="l"/>
            <a:r>
              <a:rPr sz="1300" b="1">
                <a:solidFill>
                  <a:srgbClr val="FFFFFF"/>
                </a:solidFill>
                <a:latin typeface="Calibri"/>
              </a:rPr>
              <a:t>7. Assistant conversationnel</a:t>
            </a:r>
          </a:p>
        </p:txBody>
      </p:sp>
      <p:sp>
        <p:nvSpPr>
          <p:cNvPr id="9" name="TextBox 8"/>
          <p:cNvSpPr txBox="1"/>
          <p:nvPr/>
        </p:nvSpPr>
        <p:spPr>
          <a:xfrm>
            <a:off x="502920" y="1307592"/>
            <a:ext cx="3423818" cy="201168"/>
          </a:xfrm>
          <a:prstGeom prst="rect">
            <a:avLst/>
          </a:prstGeom>
          <a:noFill/>
        </p:spPr>
        <p:txBody>
          <a:bodyPr wrap="square" anchor="t" lIns="0" rIns="0" tIns="0" bIns="0">
            <a:spAutoFit/>
          </a:bodyPr>
          <a:lstStyle/>
          <a:p>
            <a:pPr algn="l"/>
            <a:r>
              <a:rPr sz="900" b="0">
                <a:solidFill>
                  <a:srgbClr val="C7D2E5"/>
                </a:solidFill>
                <a:latin typeface="Calibri"/>
              </a:rPr>
              <a:t>Un copilote FinOps en langage naturel, ouvert aux integrations.</a:t>
            </a:r>
          </a:p>
        </p:txBody>
      </p:sp>
      <p:sp>
        <p:nvSpPr>
          <p:cNvPr id="10" name="Rectangle 9"/>
          <p:cNvSpPr/>
          <p:nvPr/>
        </p:nvSpPr>
        <p:spPr>
          <a:xfrm>
            <a:off x="365760" y="1554480"/>
            <a:ext cx="3698138" cy="3794760"/>
          </a:xfrm>
          <a:prstGeom prst="rect">
            <a:avLst/>
          </a:prstGeom>
          <a:solidFill>
            <a:srgbClr val="FFFFFF"/>
          </a:solidFill>
          <a:ln>
            <a:solidFill>
              <a:srgbClr val="0A1F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1645920"/>
            <a:ext cx="3423818" cy="274320"/>
          </a:xfrm>
          <a:prstGeom prst="rect">
            <a:avLst/>
          </a:prstGeom>
          <a:noFill/>
        </p:spPr>
        <p:txBody>
          <a:bodyPr wrap="square" anchor="t" lIns="0" rIns="0" tIns="0" bIns="0">
            <a:spAutoFit/>
          </a:bodyPr>
          <a:lstStyle/>
          <a:p>
            <a:pPr algn="l"/>
            <a:r>
              <a:rPr sz="1000" b="1">
                <a:solidFill>
                  <a:srgbClr val="E60028"/>
                </a:solidFill>
                <a:latin typeface="Calibri"/>
              </a:rPr>
              <a:t>Vous pouvez</a:t>
            </a:r>
          </a:p>
        </p:txBody>
      </p:sp>
      <p:sp>
        <p:nvSpPr>
          <p:cNvPr id="12" name="Rectangle 11"/>
          <p:cNvSpPr/>
          <p:nvPr/>
        </p:nvSpPr>
        <p:spPr>
          <a:xfrm>
            <a:off x="530352" y="2002536"/>
            <a:ext cx="73152" cy="73152"/>
          </a:xfrm>
          <a:prstGeom prst="rect">
            <a:avLst/>
          </a:prstGeom>
          <a:solidFill>
            <a:srgbClr val="E600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5800" y="1920240"/>
            <a:ext cx="3240938" cy="457200"/>
          </a:xfrm>
          <a:prstGeom prst="rect">
            <a:avLst/>
          </a:prstGeom>
          <a:noFill/>
        </p:spPr>
        <p:txBody>
          <a:bodyPr wrap="square" anchor="t" lIns="0" rIns="0" tIns="0" bIns="0">
            <a:spAutoFit/>
          </a:bodyPr>
          <a:lstStyle/>
          <a:p>
            <a:pPr algn="l"/>
            <a:r>
              <a:rPr sz="1000" b="0">
                <a:solidFill>
                  <a:srgbClr val="0A1F44"/>
                </a:solidFill>
                <a:latin typeface="Calibri"/>
              </a:rPr>
              <a:t>Poser vos questions FinOps en francais ou anglais, sans SQL ni BigQuery.</a:t>
            </a:r>
          </a:p>
        </p:txBody>
      </p:sp>
      <p:sp>
        <p:nvSpPr>
          <p:cNvPr id="14" name="Rectangle 13"/>
          <p:cNvSpPr/>
          <p:nvPr/>
        </p:nvSpPr>
        <p:spPr>
          <a:xfrm>
            <a:off x="530352" y="2386584"/>
            <a:ext cx="73152" cy="73152"/>
          </a:xfrm>
          <a:prstGeom prst="rect">
            <a:avLst/>
          </a:prstGeom>
          <a:solidFill>
            <a:srgbClr val="E600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2304288"/>
            <a:ext cx="3240938" cy="457200"/>
          </a:xfrm>
          <a:prstGeom prst="rect">
            <a:avLst/>
          </a:prstGeom>
          <a:noFill/>
        </p:spPr>
        <p:txBody>
          <a:bodyPr wrap="square" anchor="t" lIns="0" rIns="0" tIns="0" bIns="0">
            <a:spAutoFit/>
          </a:bodyPr>
          <a:lstStyle/>
          <a:p>
            <a:pPr algn="l"/>
            <a:r>
              <a:rPr sz="1000" b="0">
                <a:solidFill>
                  <a:srgbClr val="0A1F44"/>
                </a:solidFill>
                <a:latin typeface="Calibri"/>
              </a:rPr>
              <a:t>Laisser l'agent invoquer les outils analytiques, forecast, simulation.</a:t>
            </a:r>
          </a:p>
        </p:txBody>
      </p:sp>
      <p:sp>
        <p:nvSpPr>
          <p:cNvPr id="16" name="Rectangle 15"/>
          <p:cNvSpPr/>
          <p:nvPr/>
        </p:nvSpPr>
        <p:spPr>
          <a:xfrm>
            <a:off x="530352" y="2770632"/>
            <a:ext cx="73152" cy="73152"/>
          </a:xfrm>
          <a:prstGeom prst="rect">
            <a:avLst/>
          </a:prstGeom>
          <a:solidFill>
            <a:srgbClr val="E600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5800" y="2688336"/>
            <a:ext cx="3240938" cy="457200"/>
          </a:xfrm>
          <a:prstGeom prst="rect">
            <a:avLst/>
          </a:prstGeom>
          <a:noFill/>
        </p:spPr>
        <p:txBody>
          <a:bodyPr wrap="square" anchor="t" lIns="0" rIns="0" tIns="0" bIns="0">
            <a:spAutoFit/>
          </a:bodyPr>
          <a:lstStyle/>
          <a:p>
            <a:pPr algn="l"/>
            <a:r>
              <a:rPr sz="1000" b="0">
                <a:solidFill>
                  <a:srgbClr val="0A1F44"/>
                </a:solidFill>
                <a:latin typeface="Calibri"/>
              </a:rPr>
              <a:t>Historiser les conversations par utilisateur, reprendre le fil d'analyse.</a:t>
            </a:r>
          </a:p>
        </p:txBody>
      </p:sp>
      <p:sp>
        <p:nvSpPr>
          <p:cNvPr id="18" name="Rectangle 17"/>
          <p:cNvSpPr/>
          <p:nvPr/>
        </p:nvSpPr>
        <p:spPr>
          <a:xfrm>
            <a:off x="530352" y="3154680"/>
            <a:ext cx="73152" cy="73152"/>
          </a:xfrm>
          <a:prstGeom prst="rect">
            <a:avLst/>
          </a:prstGeom>
          <a:solidFill>
            <a:srgbClr val="E600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3072384"/>
            <a:ext cx="3240938" cy="457200"/>
          </a:xfrm>
          <a:prstGeom prst="rect">
            <a:avLst/>
          </a:prstGeom>
          <a:noFill/>
        </p:spPr>
        <p:txBody>
          <a:bodyPr wrap="square" anchor="t" lIns="0" rIns="0" tIns="0" bIns="0">
            <a:spAutoFit/>
          </a:bodyPr>
          <a:lstStyle/>
          <a:p>
            <a:pPr algn="l"/>
            <a:r>
              <a:rPr sz="1000" b="0">
                <a:solidFill>
                  <a:srgbClr val="0A1F44"/>
                </a:solidFill>
                <a:latin typeface="Calibri"/>
              </a:rPr>
              <a:t>Exposer les outils au standard MCP pour integrer ChatGPT Enterprise, Claude, Copilot.</a:t>
            </a:r>
          </a:p>
        </p:txBody>
      </p:sp>
      <p:sp>
        <p:nvSpPr>
          <p:cNvPr id="20" name="Rectangle 19"/>
          <p:cNvSpPr/>
          <p:nvPr/>
        </p:nvSpPr>
        <p:spPr>
          <a:xfrm>
            <a:off x="530352" y="3538728"/>
            <a:ext cx="73152" cy="73152"/>
          </a:xfrm>
          <a:prstGeom prst="rect">
            <a:avLst/>
          </a:prstGeom>
          <a:solidFill>
            <a:srgbClr val="E600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5800" y="3456432"/>
            <a:ext cx="3240938" cy="457200"/>
          </a:xfrm>
          <a:prstGeom prst="rect">
            <a:avLst/>
          </a:prstGeom>
          <a:noFill/>
        </p:spPr>
        <p:txBody>
          <a:bodyPr wrap="square" anchor="t" lIns="0" rIns="0" tIns="0" bIns="0">
            <a:spAutoFit/>
          </a:bodyPr>
          <a:lstStyle/>
          <a:p>
            <a:pPr algn="l"/>
            <a:r>
              <a:rPr sz="1000" b="0">
                <a:solidFill>
                  <a:srgbClr val="0A1F44"/>
                </a:solidFill>
                <a:latin typeface="Calibri"/>
              </a:rPr>
              <a:t>Enchainer les analyses. L'agent appelle STL puis forecast puis simule.</a:t>
            </a:r>
          </a:p>
        </p:txBody>
      </p:sp>
      <p:sp>
        <p:nvSpPr>
          <p:cNvPr id="22" name="Rectangle 21"/>
          <p:cNvSpPr/>
          <p:nvPr/>
        </p:nvSpPr>
        <p:spPr>
          <a:xfrm>
            <a:off x="502920" y="3886200"/>
            <a:ext cx="3423818" cy="18288"/>
          </a:xfrm>
          <a:prstGeom prst="rect">
            <a:avLst/>
          </a:prstGeom>
          <a:solidFill>
            <a:srgbClr val="F2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02920" y="3977640"/>
            <a:ext cx="3423818" cy="201168"/>
          </a:xfrm>
          <a:prstGeom prst="rect">
            <a:avLst/>
          </a:prstGeom>
          <a:noFill/>
        </p:spPr>
        <p:txBody>
          <a:bodyPr wrap="square" anchor="t" lIns="0" rIns="0" tIns="0" bIns="0">
            <a:spAutoFit/>
          </a:bodyPr>
          <a:lstStyle/>
          <a:p>
            <a:pPr algn="l"/>
            <a:r>
              <a:rPr sz="800" b="1">
                <a:solidFill>
                  <a:srgbClr val="555F6D"/>
                </a:solidFill>
                <a:latin typeface="Calibri"/>
              </a:rPr>
              <a:t>Points d'entree techniques</a:t>
            </a:r>
          </a:p>
        </p:txBody>
      </p:sp>
      <p:sp>
        <p:nvSpPr>
          <p:cNvPr id="24" name="TextBox 23"/>
          <p:cNvSpPr txBox="1"/>
          <p:nvPr/>
        </p:nvSpPr>
        <p:spPr>
          <a:xfrm>
            <a:off x="530352" y="4178808"/>
            <a:ext cx="3423818" cy="182880"/>
          </a:xfrm>
          <a:prstGeom prst="rect">
            <a:avLst/>
          </a:prstGeom>
          <a:noFill/>
        </p:spPr>
        <p:txBody>
          <a:bodyPr wrap="square" anchor="t" lIns="0" rIns="0" tIns="0" bIns="0">
            <a:spAutoFit/>
          </a:bodyPr>
          <a:lstStyle/>
          <a:p>
            <a:pPr algn="l"/>
            <a:r>
              <a:rPr sz="800" b="0">
                <a:solidFill>
                  <a:srgbClr val="555F6D"/>
                </a:solidFill>
                <a:latin typeface="Calibri"/>
              </a:rPr>
              <a:t>/api/chat. /api/conversations.</a:t>
            </a:r>
          </a:p>
        </p:txBody>
      </p:sp>
      <p:sp>
        <p:nvSpPr>
          <p:cNvPr id="25" name="TextBox 24"/>
          <p:cNvSpPr txBox="1"/>
          <p:nvPr/>
        </p:nvSpPr>
        <p:spPr>
          <a:xfrm>
            <a:off x="530352" y="4352544"/>
            <a:ext cx="3423818" cy="182880"/>
          </a:xfrm>
          <a:prstGeom prst="rect">
            <a:avLst/>
          </a:prstGeom>
          <a:noFill/>
        </p:spPr>
        <p:txBody>
          <a:bodyPr wrap="square" anchor="t" lIns="0" rIns="0" tIns="0" bIns="0">
            <a:spAutoFit/>
          </a:bodyPr>
          <a:lstStyle/>
          <a:p>
            <a:pPr algn="l"/>
            <a:r>
              <a:rPr sz="800" b="0">
                <a:solidFill>
                  <a:srgbClr val="555F6D"/>
                </a:solidFill>
                <a:latin typeface="Calibri"/>
              </a:rPr>
              <a:t>/api/tools. /api/tools/invoke. Standard MCP.</a:t>
            </a:r>
          </a:p>
        </p:txBody>
      </p:sp>
      <p:sp>
        <p:nvSpPr>
          <p:cNvPr id="26" name="TextBox 25"/>
          <p:cNvSpPr txBox="1"/>
          <p:nvPr/>
        </p:nvSpPr>
        <p:spPr>
          <a:xfrm>
            <a:off x="530352" y="4526280"/>
            <a:ext cx="3423818" cy="182880"/>
          </a:xfrm>
          <a:prstGeom prst="rect">
            <a:avLst/>
          </a:prstGeom>
          <a:noFill/>
        </p:spPr>
        <p:txBody>
          <a:bodyPr wrap="square" anchor="t" lIns="0" rIns="0" tIns="0" bIns="0">
            <a:spAutoFit/>
          </a:bodyPr>
          <a:lstStyle/>
          <a:p>
            <a:pPr algn="l"/>
            <a:r>
              <a:rPr sz="800" b="0">
                <a:solidFill>
                  <a:srgbClr val="555F6D"/>
                </a:solidFill>
                <a:latin typeface="Calibri"/>
              </a:rPr>
              <a:t>Compatible LLM Enterprise du client.</a:t>
            </a:r>
          </a:p>
        </p:txBody>
      </p:sp>
      <p:sp>
        <p:nvSpPr>
          <p:cNvPr id="27" name="Rectangle 26"/>
          <p:cNvSpPr/>
          <p:nvPr/>
        </p:nvSpPr>
        <p:spPr>
          <a:xfrm>
            <a:off x="4246778" y="1051560"/>
            <a:ext cx="3698138" cy="502920"/>
          </a:xfrm>
          <a:prstGeom prst="rect">
            <a:avLst/>
          </a:prstGeom>
          <a:solidFill>
            <a:srgbClr val="0A1F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383938" y="1097280"/>
            <a:ext cx="3423818" cy="228600"/>
          </a:xfrm>
          <a:prstGeom prst="rect">
            <a:avLst/>
          </a:prstGeom>
          <a:noFill/>
        </p:spPr>
        <p:txBody>
          <a:bodyPr wrap="square" anchor="t" lIns="0" rIns="0" tIns="0" bIns="0">
            <a:spAutoFit/>
          </a:bodyPr>
          <a:lstStyle/>
          <a:p>
            <a:pPr algn="l"/>
            <a:r>
              <a:rPr sz="1300" b="1">
                <a:solidFill>
                  <a:srgbClr val="FFFFFF"/>
                </a:solidFill>
                <a:latin typeface="Calibri"/>
              </a:rPr>
              <a:t>8. Gouvernance et securite</a:t>
            </a:r>
          </a:p>
        </p:txBody>
      </p:sp>
      <p:sp>
        <p:nvSpPr>
          <p:cNvPr id="29" name="TextBox 28"/>
          <p:cNvSpPr txBox="1"/>
          <p:nvPr/>
        </p:nvSpPr>
        <p:spPr>
          <a:xfrm>
            <a:off x="4383938" y="1307592"/>
            <a:ext cx="3423818" cy="201168"/>
          </a:xfrm>
          <a:prstGeom prst="rect">
            <a:avLst/>
          </a:prstGeom>
          <a:noFill/>
        </p:spPr>
        <p:txBody>
          <a:bodyPr wrap="square" anchor="t" lIns="0" rIns="0" tIns="0" bIns="0">
            <a:spAutoFit/>
          </a:bodyPr>
          <a:lstStyle/>
          <a:p>
            <a:pPr algn="l"/>
            <a:r>
              <a:rPr sz="900" b="0">
                <a:solidFill>
                  <a:srgbClr val="C7D2E5"/>
                </a:solidFill>
                <a:latin typeface="Calibri"/>
              </a:rPr>
              <a:t>Prete pour l'audit d'un DSI ou d'un RSSI.</a:t>
            </a:r>
          </a:p>
        </p:txBody>
      </p:sp>
      <p:sp>
        <p:nvSpPr>
          <p:cNvPr id="30" name="Rectangle 29"/>
          <p:cNvSpPr/>
          <p:nvPr/>
        </p:nvSpPr>
        <p:spPr>
          <a:xfrm>
            <a:off x="4246778" y="1554480"/>
            <a:ext cx="3698138" cy="3794760"/>
          </a:xfrm>
          <a:prstGeom prst="rect">
            <a:avLst/>
          </a:prstGeom>
          <a:solidFill>
            <a:srgbClr val="FFFFFF"/>
          </a:solidFill>
          <a:ln>
            <a:solidFill>
              <a:srgbClr val="0A1F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383938" y="1645920"/>
            <a:ext cx="3423818" cy="274320"/>
          </a:xfrm>
          <a:prstGeom prst="rect">
            <a:avLst/>
          </a:prstGeom>
          <a:noFill/>
        </p:spPr>
        <p:txBody>
          <a:bodyPr wrap="square" anchor="t" lIns="0" rIns="0" tIns="0" bIns="0">
            <a:spAutoFit/>
          </a:bodyPr>
          <a:lstStyle/>
          <a:p>
            <a:pPr algn="l"/>
            <a:r>
              <a:rPr sz="1000" b="1">
                <a:solidFill>
                  <a:srgbClr val="E60028"/>
                </a:solidFill>
                <a:latin typeface="Calibri"/>
              </a:rPr>
              <a:t>Vous pouvez</a:t>
            </a:r>
          </a:p>
        </p:txBody>
      </p:sp>
      <p:sp>
        <p:nvSpPr>
          <p:cNvPr id="32" name="Rectangle 31"/>
          <p:cNvSpPr/>
          <p:nvPr/>
        </p:nvSpPr>
        <p:spPr>
          <a:xfrm>
            <a:off x="4411370" y="2002536"/>
            <a:ext cx="73152" cy="73152"/>
          </a:xfrm>
          <a:prstGeom prst="rect">
            <a:avLst/>
          </a:prstGeom>
          <a:solidFill>
            <a:srgbClr val="E600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566818" y="1920240"/>
            <a:ext cx="3240938" cy="457200"/>
          </a:xfrm>
          <a:prstGeom prst="rect">
            <a:avLst/>
          </a:prstGeom>
          <a:noFill/>
        </p:spPr>
        <p:txBody>
          <a:bodyPr wrap="square" anchor="t" lIns="0" rIns="0" tIns="0" bIns="0">
            <a:spAutoFit/>
          </a:bodyPr>
          <a:lstStyle/>
          <a:p>
            <a:pPr algn="l"/>
            <a:r>
              <a:rPr sz="1000" b="0">
                <a:solidFill>
                  <a:srgbClr val="0A1F44"/>
                </a:solidFill>
                <a:latin typeface="Calibri"/>
              </a:rPr>
              <a:t>Authentifier vos utilisateurs par PIN et session cookie httpOnly.</a:t>
            </a:r>
          </a:p>
        </p:txBody>
      </p:sp>
      <p:sp>
        <p:nvSpPr>
          <p:cNvPr id="34" name="Rectangle 33"/>
          <p:cNvSpPr/>
          <p:nvPr/>
        </p:nvSpPr>
        <p:spPr>
          <a:xfrm>
            <a:off x="4411370" y="2386584"/>
            <a:ext cx="73152" cy="73152"/>
          </a:xfrm>
          <a:prstGeom prst="rect">
            <a:avLst/>
          </a:prstGeom>
          <a:solidFill>
            <a:srgbClr val="E600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566818" y="2304288"/>
            <a:ext cx="3240938" cy="457200"/>
          </a:xfrm>
          <a:prstGeom prst="rect">
            <a:avLst/>
          </a:prstGeom>
          <a:noFill/>
        </p:spPr>
        <p:txBody>
          <a:bodyPr wrap="square" anchor="t" lIns="0" rIns="0" tIns="0" bIns="0">
            <a:spAutoFit/>
          </a:bodyPr>
          <a:lstStyle/>
          <a:p>
            <a:pPr algn="l"/>
            <a:r>
              <a:rPr sz="1000" b="0">
                <a:solidFill>
                  <a:srgbClr val="0A1F44"/>
                </a:solidFill>
                <a:latin typeface="Calibri"/>
              </a:rPr>
              <a:t>Proteger les endpoints critiques par cle d'API dediee (X-API-Key).</a:t>
            </a:r>
          </a:p>
        </p:txBody>
      </p:sp>
      <p:sp>
        <p:nvSpPr>
          <p:cNvPr id="36" name="Rectangle 35"/>
          <p:cNvSpPr/>
          <p:nvPr/>
        </p:nvSpPr>
        <p:spPr>
          <a:xfrm>
            <a:off x="4411370" y="2770632"/>
            <a:ext cx="73152" cy="73152"/>
          </a:xfrm>
          <a:prstGeom prst="rect">
            <a:avLst/>
          </a:prstGeom>
          <a:solidFill>
            <a:srgbClr val="E600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566818" y="2688336"/>
            <a:ext cx="3240938" cy="457200"/>
          </a:xfrm>
          <a:prstGeom prst="rect">
            <a:avLst/>
          </a:prstGeom>
          <a:noFill/>
        </p:spPr>
        <p:txBody>
          <a:bodyPr wrap="square" anchor="t" lIns="0" rIns="0" tIns="0" bIns="0">
            <a:spAutoFit/>
          </a:bodyPr>
          <a:lstStyle/>
          <a:p>
            <a:pPr algn="l"/>
            <a:r>
              <a:rPr sz="1000" b="0">
                <a:solidFill>
                  <a:srgbClr val="0A1F44"/>
                </a:solidFill>
                <a:latin typeface="Calibri"/>
              </a:rPr>
              <a:t>Cloisonner CORS strictement en production, refus de demarrer si mal configure.</a:t>
            </a:r>
          </a:p>
        </p:txBody>
      </p:sp>
      <p:sp>
        <p:nvSpPr>
          <p:cNvPr id="38" name="Rectangle 37"/>
          <p:cNvSpPr/>
          <p:nvPr/>
        </p:nvSpPr>
        <p:spPr>
          <a:xfrm>
            <a:off x="4411370" y="3154680"/>
            <a:ext cx="73152" cy="73152"/>
          </a:xfrm>
          <a:prstGeom prst="rect">
            <a:avLst/>
          </a:prstGeom>
          <a:solidFill>
            <a:srgbClr val="E600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566818" y="3072384"/>
            <a:ext cx="3240938" cy="457200"/>
          </a:xfrm>
          <a:prstGeom prst="rect">
            <a:avLst/>
          </a:prstGeom>
          <a:noFill/>
        </p:spPr>
        <p:txBody>
          <a:bodyPr wrap="square" anchor="t" lIns="0" rIns="0" tIns="0" bIns="0">
            <a:spAutoFit/>
          </a:bodyPr>
          <a:lstStyle/>
          <a:p>
            <a:pPr algn="l"/>
            <a:r>
              <a:rPr sz="1000" b="0">
                <a:solidFill>
                  <a:srgbClr val="0A1F44"/>
                </a:solidFill>
                <a:latin typeface="Calibri"/>
              </a:rPr>
              <a:t>Journaliser les evenements applicatifs pour audit et facturation interne.</a:t>
            </a:r>
          </a:p>
        </p:txBody>
      </p:sp>
      <p:sp>
        <p:nvSpPr>
          <p:cNvPr id="40" name="Rectangle 39"/>
          <p:cNvSpPr/>
          <p:nvPr/>
        </p:nvSpPr>
        <p:spPr>
          <a:xfrm>
            <a:off x="4411370" y="3538728"/>
            <a:ext cx="73152" cy="73152"/>
          </a:xfrm>
          <a:prstGeom prst="rect">
            <a:avLst/>
          </a:prstGeom>
          <a:solidFill>
            <a:srgbClr val="E600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566818" y="3456432"/>
            <a:ext cx="3240938" cy="457200"/>
          </a:xfrm>
          <a:prstGeom prst="rect">
            <a:avLst/>
          </a:prstGeom>
          <a:noFill/>
        </p:spPr>
        <p:txBody>
          <a:bodyPr wrap="square" anchor="t" lIns="0" rIns="0" tIns="0" bIns="0">
            <a:spAutoFit/>
          </a:bodyPr>
          <a:lstStyle/>
          <a:p>
            <a:pPr algn="l"/>
            <a:r>
              <a:rPr sz="1000" b="0">
                <a:solidFill>
                  <a:srgbClr val="0A1F44"/>
                </a:solidFill>
                <a:latin typeface="Calibri"/>
              </a:rPr>
              <a:t>Ne jamais stocker de tokens OAuth partages. Chaque session est isolee.</a:t>
            </a:r>
          </a:p>
        </p:txBody>
      </p:sp>
      <p:sp>
        <p:nvSpPr>
          <p:cNvPr id="42" name="Rectangle 41"/>
          <p:cNvSpPr/>
          <p:nvPr/>
        </p:nvSpPr>
        <p:spPr>
          <a:xfrm>
            <a:off x="4383938" y="3886200"/>
            <a:ext cx="3423818" cy="18288"/>
          </a:xfrm>
          <a:prstGeom prst="rect">
            <a:avLst/>
          </a:prstGeom>
          <a:solidFill>
            <a:srgbClr val="F2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383938" y="3977640"/>
            <a:ext cx="3423818" cy="201168"/>
          </a:xfrm>
          <a:prstGeom prst="rect">
            <a:avLst/>
          </a:prstGeom>
          <a:noFill/>
        </p:spPr>
        <p:txBody>
          <a:bodyPr wrap="square" anchor="t" lIns="0" rIns="0" tIns="0" bIns="0">
            <a:spAutoFit/>
          </a:bodyPr>
          <a:lstStyle/>
          <a:p>
            <a:pPr algn="l"/>
            <a:r>
              <a:rPr sz="800" b="1">
                <a:solidFill>
                  <a:srgbClr val="555F6D"/>
                </a:solidFill>
                <a:latin typeface="Calibri"/>
              </a:rPr>
              <a:t>Points d'entree techniques</a:t>
            </a:r>
          </a:p>
        </p:txBody>
      </p:sp>
      <p:sp>
        <p:nvSpPr>
          <p:cNvPr id="44" name="TextBox 43"/>
          <p:cNvSpPr txBox="1"/>
          <p:nvPr/>
        </p:nvSpPr>
        <p:spPr>
          <a:xfrm>
            <a:off x="4411370" y="4178808"/>
            <a:ext cx="3423818" cy="182880"/>
          </a:xfrm>
          <a:prstGeom prst="rect">
            <a:avLst/>
          </a:prstGeom>
          <a:noFill/>
        </p:spPr>
        <p:txBody>
          <a:bodyPr wrap="square" anchor="t" lIns="0" rIns="0" tIns="0" bIns="0">
            <a:spAutoFit/>
          </a:bodyPr>
          <a:lstStyle/>
          <a:p>
            <a:pPr algn="l"/>
            <a:r>
              <a:rPr sz="800" b="0">
                <a:solidFill>
                  <a:srgbClr val="555F6D"/>
                </a:solidFill>
                <a:latin typeface="Calibri"/>
              </a:rPr>
              <a:t>/api/auth. /api/events. SEC-013, SEC-014, SEC-015.</a:t>
            </a:r>
          </a:p>
        </p:txBody>
      </p:sp>
      <p:sp>
        <p:nvSpPr>
          <p:cNvPr id="45" name="TextBox 44"/>
          <p:cNvSpPr txBox="1"/>
          <p:nvPr/>
        </p:nvSpPr>
        <p:spPr>
          <a:xfrm>
            <a:off x="4411370" y="4352544"/>
            <a:ext cx="3423818" cy="182880"/>
          </a:xfrm>
          <a:prstGeom prst="rect">
            <a:avLst/>
          </a:prstGeom>
          <a:noFill/>
        </p:spPr>
        <p:txBody>
          <a:bodyPr wrap="square" anchor="t" lIns="0" rIns="0" tIns="0" bIns="0">
            <a:spAutoFit/>
          </a:bodyPr>
          <a:lstStyle/>
          <a:p>
            <a:pPr algn="l"/>
            <a:r>
              <a:rPr sz="800" b="0">
                <a:solidFill>
                  <a:srgbClr val="555F6D"/>
                </a:solidFill>
                <a:latin typeface="Calibri"/>
              </a:rPr>
              <a:t>CI: pip-audit, npm audit, bandit, semgrep.</a:t>
            </a:r>
          </a:p>
        </p:txBody>
      </p:sp>
      <p:sp>
        <p:nvSpPr>
          <p:cNvPr id="46" name="TextBox 45"/>
          <p:cNvSpPr txBox="1"/>
          <p:nvPr/>
        </p:nvSpPr>
        <p:spPr>
          <a:xfrm>
            <a:off x="4411370" y="4526280"/>
            <a:ext cx="3423818" cy="182880"/>
          </a:xfrm>
          <a:prstGeom prst="rect">
            <a:avLst/>
          </a:prstGeom>
          <a:noFill/>
        </p:spPr>
        <p:txBody>
          <a:bodyPr wrap="square" anchor="t" lIns="0" rIns="0" tIns="0" bIns="0">
            <a:spAutoFit/>
          </a:bodyPr>
          <a:lstStyle/>
          <a:p>
            <a:pPr algn="l"/>
            <a:r>
              <a:rPr sz="800" b="0">
                <a:solidFill>
                  <a:srgbClr val="555F6D"/>
                </a:solidFill>
                <a:latin typeface="Calibri"/>
              </a:rPr>
              <a:t>Cache admin purgeable par cle.</a:t>
            </a:r>
          </a:p>
        </p:txBody>
      </p:sp>
      <p:sp>
        <p:nvSpPr>
          <p:cNvPr id="47" name="Rectangle 46"/>
          <p:cNvSpPr/>
          <p:nvPr/>
        </p:nvSpPr>
        <p:spPr>
          <a:xfrm>
            <a:off x="8127796" y="1051560"/>
            <a:ext cx="3698138" cy="502920"/>
          </a:xfrm>
          <a:prstGeom prst="rect">
            <a:avLst/>
          </a:prstGeom>
          <a:solidFill>
            <a:srgbClr val="0A1F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264956" y="1097280"/>
            <a:ext cx="3423818" cy="228600"/>
          </a:xfrm>
          <a:prstGeom prst="rect">
            <a:avLst/>
          </a:prstGeom>
          <a:noFill/>
        </p:spPr>
        <p:txBody>
          <a:bodyPr wrap="square" anchor="t" lIns="0" rIns="0" tIns="0" bIns="0">
            <a:spAutoFit/>
          </a:bodyPr>
          <a:lstStyle/>
          <a:p>
            <a:pPr algn="l"/>
            <a:r>
              <a:rPr sz="1300" b="1">
                <a:solidFill>
                  <a:srgbClr val="FFFFFF"/>
                </a:solidFill>
                <a:latin typeface="Calibri"/>
              </a:rPr>
              <a:t>9. Deploiement et TCO</a:t>
            </a:r>
          </a:p>
        </p:txBody>
      </p:sp>
      <p:sp>
        <p:nvSpPr>
          <p:cNvPr id="49" name="TextBox 48"/>
          <p:cNvSpPr txBox="1"/>
          <p:nvPr/>
        </p:nvSpPr>
        <p:spPr>
          <a:xfrm>
            <a:off x="8264956" y="1307592"/>
            <a:ext cx="3423818" cy="201168"/>
          </a:xfrm>
          <a:prstGeom prst="rect">
            <a:avLst/>
          </a:prstGeom>
          <a:noFill/>
        </p:spPr>
        <p:txBody>
          <a:bodyPr wrap="square" anchor="t" lIns="0" rIns="0" tIns="0" bIns="0">
            <a:spAutoFit/>
          </a:bodyPr>
          <a:lstStyle/>
          <a:p>
            <a:pPr algn="l"/>
            <a:r>
              <a:rPr sz="900" b="0">
                <a:solidFill>
                  <a:srgbClr val="C7D2E5"/>
                </a:solidFill>
                <a:latin typeface="Calibri"/>
              </a:rPr>
              <a:t>De la demo au run production sans reecrire.</a:t>
            </a:r>
          </a:p>
        </p:txBody>
      </p:sp>
      <p:sp>
        <p:nvSpPr>
          <p:cNvPr id="50" name="Rectangle 49"/>
          <p:cNvSpPr/>
          <p:nvPr/>
        </p:nvSpPr>
        <p:spPr>
          <a:xfrm>
            <a:off x="8127796" y="1554480"/>
            <a:ext cx="3698138" cy="3794760"/>
          </a:xfrm>
          <a:prstGeom prst="rect">
            <a:avLst/>
          </a:prstGeom>
          <a:solidFill>
            <a:srgbClr val="FFFFFF"/>
          </a:solidFill>
          <a:ln>
            <a:solidFill>
              <a:srgbClr val="0A1F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8264956" y="1645920"/>
            <a:ext cx="3423818" cy="274320"/>
          </a:xfrm>
          <a:prstGeom prst="rect">
            <a:avLst/>
          </a:prstGeom>
          <a:noFill/>
        </p:spPr>
        <p:txBody>
          <a:bodyPr wrap="square" anchor="t" lIns="0" rIns="0" tIns="0" bIns="0">
            <a:spAutoFit/>
          </a:bodyPr>
          <a:lstStyle/>
          <a:p>
            <a:pPr algn="l"/>
            <a:r>
              <a:rPr sz="1000" b="1">
                <a:solidFill>
                  <a:srgbClr val="E60028"/>
                </a:solidFill>
                <a:latin typeface="Calibri"/>
              </a:rPr>
              <a:t>Vous pouvez</a:t>
            </a:r>
          </a:p>
        </p:txBody>
      </p:sp>
      <p:sp>
        <p:nvSpPr>
          <p:cNvPr id="52" name="Rectangle 51"/>
          <p:cNvSpPr/>
          <p:nvPr/>
        </p:nvSpPr>
        <p:spPr>
          <a:xfrm>
            <a:off x="8292388" y="2002536"/>
            <a:ext cx="73152" cy="73152"/>
          </a:xfrm>
          <a:prstGeom prst="rect">
            <a:avLst/>
          </a:prstGeom>
          <a:solidFill>
            <a:srgbClr val="E600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8447836" y="1920240"/>
            <a:ext cx="3240938" cy="457200"/>
          </a:xfrm>
          <a:prstGeom prst="rect">
            <a:avLst/>
          </a:prstGeom>
          <a:noFill/>
        </p:spPr>
        <p:txBody>
          <a:bodyPr wrap="square" anchor="t" lIns="0" rIns="0" tIns="0" bIns="0">
            <a:spAutoFit/>
          </a:bodyPr>
          <a:lstStyle/>
          <a:p>
            <a:pPr algn="l"/>
            <a:r>
              <a:rPr sz="1000" b="0">
                <a:solidFill>
                  <a:srgbClr val="0A1F44"/>
                </a:solidFill>
                <a:latin typeface="Calibri"/>
              </a:rPr>
              <a:t>Deployer en un script sur AWS (ECS Fargate + ALB + ECR + CloudWatch).</a:t>
            </a:r>
          </a:p>
        </p:txBody>
      </p:sp>
      <p:sp>
        <p:nvSpPr>
          <p:cNvPr id="54" name="Rectangle 53"/>
          <p:cNvSpPr/>
          <p:nvPr/>
        </p:nvSpPr>
        <p:spPr>
          <a:xfrm>
            <a:off x="8292388" y="2386584"/>
            <a:ext cx="73152" cy="73152"/>
          </a:xfrm>
          <a:prstGeom prst="rect">
            <a:avLst/>
          </a:prstGeom>
          <a:solidFill>
            <a:srgbClr val="E600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8447836" y="2304288"/>
            <a:ext cx="3240938" cy="457200"/>
          </a:xfrm>
          <a:prstGeom prst="rect">
            <a:avLst/>
          </a:prstGeom>
          <a:noFill/>
        </p:spPr>
        <p:txBody>
          <a:bodyPr wrap="square" anchor="t" lIns="0" rIns="0" tIns="0" bIns="0">
            <a:spAutoFit/>
          </a:bodyPr>
          <a:lstStyle/>
          <a:p>
            <a:pPr algn="l"/>
            <a:r>
              <a:rPr sz="1000" b="0">
                <a:solidFill>
                  <a:srgbClr val="0A1F44"/>
                </a:solidFill>
                <a:latin typeface="Calibri"/>
              </a:rPr>
              <a:t>Beneficier d'une IaC Terraform auditable, un fichier par concern.</a:t>
            </a:r>
          </a:p>
        </p:txBody>
      </p:sp>
      <p:sp>
        <p:nvSpPr>
          <p:cNvPr id="56" name="Rectangle 55"/>
          <p:cNvSpPr/>
          <p:nvPr/>
        </p:nvSpPr>
        <p:spPr>
          <a:xfrm>
            <a:off x="8292388" y="2770632"/>
            <a:ext cx="73152" cy="73152"/>
          </a:xfrm>
          <a:prstGeom prst="rect">
            <a:avLst/>
          </a:prstGeom>
          <a:solidFill>
            <a:srgbClr val="E600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8447836" y="2688336"/>
            <a:ext cx="3240938" cy="457200"/>
          </a:xfrm>
          <a:prstGeom prst="rect">
            <a:avLst/>
          </a:prstGeom>
          <a:noFill/>
        </p:spPr>
        <p:txBody>
          <a:bodyPr wrap="square" anchor="t" lIns="0" rIns="0" tIns="0" bIns="0">
            <a:spAutoFit/>
          </a:bodyPr>
          <a:lstStyle/>
          <a:p>
            <a:pPr algn="l"/>
            <a:r>
              <a:rPr sz="1000" b="0">
                <a:solidFill>
                  <a:srgbClr val="0A1F44"/>
                </a:solidFill>
                <a:latin typeface="Calibri"/>
              </a:rPr>
              <a:t>Monter en charge horizontalement selon vos volumes de facture.</a:t>
            </a:r>
          </a:p>
        </p:txBody>
      </p:sp>
      <p:sp>
        <p:nvSpPr>
          <p:cNvPr id="58" name="Rectangle 57"/>
          <p:cNvSpPr/>
          <p:nvPr/>
        </p:nvSpPr>
        <p:spPr>
          <a:xfrm>
            <a:off x="8292388" y="3154680"/>
            <a:ext cx="73152" cy="73152"/>
          </a:xfrm>
          <a:prstGeom prst="rect">
            <a:avLst/>
          </a:prstGeom>
          <a:solidFill>
            <a:srgbClr val="E600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8447836" y="3072384"/>
            <a:ext cx="3240938" cy="457200"/>
          </a:xfrm>
          <a:prstGeom prst="rect">
            <a:avLst/>
          </a:prstGeom>
          <a:noFill/>
        </p:spPr>
        <p:txBody>
          <a:bodyPr wrap="square" anchor="t" lIns="0" rIns="0" tIns="0" bIns="0">
            <a:spAutoFit/>
          </a:bodyPr>
          <a:lstStyle/>
          <a:p>
            <a:pPr algn="l"/>
            <a:r>
              <a:rPr sz="1000" b="0">
                <a:solidFill>
                  <a:srgbClr val="0A1F44"/>
                </a:solidFill>
                <a:latin typeface="Calibri"/>
              </a:rPr>
              <a:t>Integrer la CI/CD du client, badges de securite sur chaque commit.</a:t>
            </a:r>
          </a:p>
        </p:txBody>
      </p:sp>
      <p:sp>
        <p:nvSpPr>
          <p:cNvPr id="60" name="Rectangle 59"/>
          <p:cNvSpPr/>
          <p:nvPr/>
        </p:nvSpPr>
        <p:spPr>
          <a:xfrm>
            <a:off x="8292388" y="3538728"/>
            <a:ext cx="73152" cy="73152"/>
          </a:xfrm>
          <a:prstGeom prst="rect">
            <a:avLst/>
          </a:prstGeom>
          <a:solidFill>
            <a:srgbClr val="E600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8447836" y="3456432"/>
            <a:ext cx="3240938" cy="457200"/>
          </a:xfrm>
          <a:prstGeom prst="rect">
            <a:avLst/>
          </a:prstGeom>
          <a:noFill/>
        </p:spPr>
        <p:txBody>
          <a:bodyPr wrap="square" anchor="t" lIns="0" rIns="0" tIns="0" bIns="0">
            <a:spAutoFit/>
          </a:bodyPr>
          <a:lstStyle/>
          <a:p>
            <a:pPr algn="l"/>
            <a:r>
              <a:rPr sz="1000" b="0">
                <a:solidFill>
                  <a:srgbClr val="0A1F44"/>
                </a:solidFill>
                <a:latin typeface="Calibri"/>
              </a:rPr>
              <a:t>Personnaliser la marque et le catalogue de modeles selon vos standards.</a:t>
            </a:r>
          </a:p>
        </p:txBody>
      </p:sp>
      <p:sp>
        <p:nvSpPr>
          <p:cNvPr id="62" name="Rectangle 61"/>
          <p:cNvSpPr/>
          <p:nvPr/>
        </p:nvSpPr>
        <p:spPr>
          <a:xfrm>
            <a:off x="8264956" y="3886200"/>
            <a:ext cx="3423818" cy="18288"/>
          </a:xfrm>
          <a:prstGeom prst="rect">
            <a:avLst/>
          </a:prstGeom>
          <a:solidFill>
            <a:srgbClr val="F2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8264956" y="3977640"/>
            <a:ext cx="3423818" cy="201168"/>
          </a:xfrm>
          <a:prstGeom prst="rect">
            <a:avLst/>
          </a:prstGeom>
          <a:noFill/>
        </p:spPr>
        <p:txBody>
          <a:bodyPr wrap="square" anchor="t" lIns="0" rIns="0" tIns="0" bIns="0">
            <a:spAutoFit/>
          </a:bodyPr>
          <a:lstStyle/>
          <a:p>
            <a:pPr algn="l"/>
            <a:r>
              <a:rPr sz="800" b="1">
                <a:solidFill>
                  <a:srgbClr val="555F6D"/>
                </a:solidFill>
                <a:latin typeface="Calibri"/>
              </a:rPr>
              <a:t>Points d'entree techniques</a:t>
            </a:r>
          </a:p>
        </p:txBody>
      </p:sp>
      <p:sp>
        <p:nvSpPr>
          <p:cNvPr id="64" name="TextBox 63"/>
          <p:cNvSpPr txBox="1"/>
          <p:nvPr/>
        </p:nvSpPr>
        <p:spPr>
          <a:xfrm>
            <a:off x="8292388" y="4178808"/>
            <a:ext cx="3423818" cy="182880"/>
          </a:xfrm>
          <a:prstGeom prst="rect">
            <a:avLst/>
          </a:prstGeom>
          <a:noFill/>
        </p:spPr>
        <p:txBody>
          <a:bodyPr wrap="square" anchor="t" lIns="0" rIns="0" tIns="0" bIns="0">
            <a:spAutoFit/>
          </a:bodyPr>
          <a:lstStyle/>
          <a:p>
            <a:pPr algn="l"/>
            <a:r>
              <a:rPr sz="800" b="0">
                <a:solidFill>
                  <a:srgbClr val="555F6D"/>
                </a:solidFill>
                <a:latin typeface="Calibri"/>
              </a:rPr>
              <a:t>deploy.sh. terraform apply.</a:t>
            </a:r>
          </a:p>
        </p:txBody>
      </p:sp>
      <p:sp>
        <p:nvSpPr>
          <p:cNvPr id="65" name="TextBox 64"/>
          <p:cNvSpPr txBox="1"/>
          <p:nvPr/>
        </p:nvSpPr>
        <p:spPr>
          <a:xfrm>
            <a:off x="8292388" y="4352544"/>
            <a:ext cx="3423818" cy="182880"/>
          </a:xfrm>
          <a:prstGeom prst="rect">
            <a:avLst/>
          </a:prstGeom>
          <a:noFill/>
        </p:spPr>
        <p:txBody>
          <a:bodyPr wrap="square" anchor="t" lIns="0" rIns="0" tIns="0" bIns="0">
            <a:spAutoFit/>
          </a:bodyPr>
          <a:lstStyle/>
          <a:p>
            <a:pPr algn="l"/>
            <a:r>
              <a:rPr sz="800" b="0">
                <a:solidFill>
                  <a:srgbClr val="555F6D"/>
                </a:solidFill>
                <a:latin typeface="Calibri"/>
              </a:rPr>
              <a:t>.github/workflows/*. Docker smoke tests.</a:t>
            </a:r>
          </a:p>
        </p:txBody>
      </p:sp>
      <p:sp>
        <p:nvSpPr>
          <p:cNvPr id="66" name="TextBox 65"/>
          <p:cNvSpPr txBox="1"/>
          <p:nvPr/>
        </p:nvSpPr>
        <p:spPr>
          <a:xfrm>
            <a:off x="8292388" y="4526280"/>
            <a:ext cx="3423818" cy="182880"/>
          </a:xfrm>
          <a:prstGeom prst="rect">
            <a:avLst/>
          </a:prstGeom>
          <a:noFill/>
        </p:spPr>
        <p:txBody>
          <a:bodyPr wrap="square" anchor="t" lIns="0" rIns="0" tIns="0" bIns="0">
            <a:spAutoFit/>
          </a:bodyPr>
          <a:lstStyle/>
          <a:p>
            <a:pPr algn="l"/>
            <a:r>
              <a:rPr sz="800" b="0">
                <a:solidFill>
                  <a:srgbClr val="555F6D"/>
                </a:solidFill>
                <a:latin typeface="Calibri"/>
              </a:rPr>
              <a:t>Marque Sia. Extensible par accompagnement.</a:t>
            </a:r>
          </a:p>
        </p:txBody>
      </p:sp>
      <p:sp>
        <p:nvSpPr>
          <p:cNvPr id="67" name="Rectangle 66"/>
          <p:cNvSpPr/>
          <p:nvPr/>
        </p:nvSpPr>
        <p:spPr>
          <a:xfrm>
            <a:off x="365760" y="5440680"/>
            <a:ext cx="11460175" cy="914400"/>
          </a:xfrm>
          <a:prstGeom prst="rect">
            <a:avLst/>
          </a:prstGeom>
          <a:solidFill>
            <a:srgbClr val="F2F4F8"/>
          </a:solidFill>
          <a:ln>
            <a:solidFill>
              <a:srgbClr val="0A1F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365760" y="5440680"/>
            <a:ext cx="137160" cy="914400"/>
          </a:xfrm>
          <a:prstGeom prst="rect">
            <a:avLst/>
          </a:prstGeom>
          <a:solidFill>
            <a:srgbClr val="E600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640080" y="5513832"/>
            <a:ext cx="2286000" cy="274320"/>
          </a:xfrm>
          <a:prstGeom prst="rect">
            <a:avLst/>
          </a:prstGeom>
          <a:noFill/>
        </p:spPr>
        <p:txBody>
          <a:bodyPr wrap="square" anchor="t" lIns="0" rIns="0" tIns="0" bIns="0">
            <a:spAutoFit/>
          </a:bodyPr>
          <a:lstStyle/>
          <a:p>
            <a:pPr algn="l"/>
            <a:r>
              <a:rPr sz="1100" b="1">
                <a:solidFill>
                  <a:srgbClr val="E60028"/>
                </a:solidFill>
                <a:latin typeface="Calibri"/>
              </a:rPr>
              <a:t>En pratique. Un CFO adjoint qui reprend le pilotage FinOps groupe.</a:t>
            </a:r>
          </a:p>
        </p:txBody>
      </p:sp>
      <p:sp>
        <p:nvSpPr>
          <p:cNvPr id="70" name="TextBox 69"/>
          <p:cNvSpPr txBox="1"/>
          <p:nvPr/>
        </p:nvSpPr>
        <p:spPr>
          <a:xfrm>
            <a:off x="640080" y="5760720"/>
            <a:ext cx="11002975" cy="548640"/>
          </a:xfrm>
          <a:prstGeom prst="rect">
            <a:avLst/>
          </a:prstGeom>
          <a:noFill/>
        </p:spPr>
        <p:txBody>
          <a:bodyPr wrap="square" anchor="t" lIns="0" rIns="0" tIns="0" bIns="0">
            <a:spAutoFit/>
          </a:bodyPr>
          <a:lstStyle/>
          <a:p>
            <a:pPr algn="l"/>
            <a:r>
              <a:rPr sz="1000" b="0">
                <a:solidFill>
                  <a:srgbClr val="0A1F44"/>
                </a:solidFill>
                <a:latin typeface="Calibri"/>
              </a:rPr>
              <a:t>Il herite d'un perimetre AWS + GCP eclate entre 5 BU, aucun langage commun. Ses equipes deploient la plateforme en 2 semaines. Chaque responsable BU utilise l'agent pour poser ses questions, la simulation pour arbitrer les nouveaux projets IA, et le forecast pour son budget annuel. La gouvernance passe l'audit RSSI sans reserve. Resultat. Vision consolidee groupe en &lt; 30 jours. Reduction de 12 a 18 % de la facture cloud sur 6 mois.</a:t>
            </a:r>
          </a:p>
        </p:txBody>
      </p:sp>
      <p:sp>
        <p:nvSpPr>
          <p:cNvPr id="71" name="TextBox 70"/>
          <p:cNvSpPr txBox="1"/>
          <p:nvPr/>
        </p:nvSpPr>
        <p:spPr>
          <a:xfrm>
            <a:off x="365760" y="6537960"/>
            <a:ext cx="9144000" cy="274320"/>
          </a:xfrm>
          <a:prstGeom prst="rect">
            <a:avLst/>
          </a:prstGeom>
          <a:noFill/>
        </p:spPr>
        <p:txBody>
          <a:bodyPr wrap="square" anchor="t" lIns="0" rIns="0" tIns="0" bIns="0">
            <a:spAutoFit/>
          </a:bodyPr>
          <a:lstStyle/>
          <a:p>
            <a:pPr algn="l"/>
            <a:r>
              <a:rPr sz="900" b="0">
                <a:solidFill>
                  <a:srgbClr val="555F6D"/>
                </a:solidFill>
                <a:latin typeface="Calibri"/>
              </a:rPr>
              <a:t>Sia. FinOps AI Platform. Confidential.</a:t>
            </a:r>
          </a:p>
        </p:txBody>
      </p:sp>
      <p:sp>
        <p:nvSpPr>
          <p:cNvPr id="72" name="TextBox 71"/>
          <p:cNvSpPr txBox="1"/>
          <p:nvPr/>
        </p:nvSpPr>
        <p:spPr>
          <a:xfrm>
            <a:off x="11430000" y="6537960"/>
            <a:ext cx="548640" cy="274320"/>
          </a:xfrm>
          <a:prstGeom prst="rect">
            <a:avLst/>
          </a:prstGeom>
          <a:noFill/>
        </p:spPr>
        <p:txBody>
          <a:bodyPr wrap="square" anchor="t" lIns="0" rIns="0" tIns="0" bIns="0">
            <a:spAutoFit/>
          </a:bodyPr>
          <a:lstStyle/>
          <a:p>
            <a:pPr algn="r"/>
            <a:r>
              <a:rPr sz="900" b="0">
                <a:solidFill>
                  <a:srgbClr val="555F6D"/>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0A1F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77240"/>
            <a:ext cx="12191695" cy="45720"/>
          </a:xfrm>
          <a:prstGeom prst="rect">
            <a:avLst/>
          </a:prstGeom>
          <a:solidFill>
            <a:srgbClr val="E600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09728"/>
            <a:ext cx="10058400" cy="457200"/>
          </a:xfrm>
          <a:prstGeom prst="rect">
            <a:avLst/>
          </a:prstGeom>
          <a:noFill/>
        </p:spPr>
        <p:txBody>
          <a:bodyPr wrap="square" anchor="t" lIns="0" rIns="0" tIns="0" bIns="0">
            <a:spAutoFit/>
          </a:bodyPr>
          <a:lstStyle/>
          <a:p>
            <a:pPr algn="l"/>
            <a:r>
              <a:rPr sz="2200" b="1">
                <a:solidFill>
                  <a:srgbClr val="FFFFFF"/>
                </a:solidFill>
                <a:latin typeface="Calibri"/>
              </a:rPr>
              <a:t>Impact sur le cycle de vie d'un projet IA</a:t>
            </a:r>
          </a:p>
        </p:txBody>
      </p:sp>
      <p:sp>
        <p:nvSpPr>
          <p:cNvPr id="5" name="TextBox 4"/>
          <p:cNvSpPr txBox="1"/>
          <p:nvPr/>
        </p:nvSpPr>
        <p:spPr>
          <a:xfrm>
            <a:off x="365760" y="457200"/>
            <a:ext cx="10058400" cy="320040"/>
          </a:xfrm>
          <a:prstGeom prst="rect">
            <a:avLst/>
          </a:prstGeom>
          <a:noFill/>
        </p:spPr>
        <p:txBody>
          <a:bodyPr wrap="square" anchor="t" lIns="0" rIns="0" tIns="0" bIns="0">
            <a:spAutoFit/>
          </a:bodyPr>
          <a:lstStyle/>
          <a:p>
            <a:pPr algn="l"/>
            <a:r>
              <a:rPr sz="1100" b="0">
                <a:solidFill>
                  <a:srgbClr val="C7D2E5"/>
                </a:solidFill>
                <a:latin typeface="Calibri"/>
              </a:rPr>
              <a:t>Positionnement de la plateforme sur les phases Cadrage, Build et Run</a:t>
            </a:r>
          </a:p>
        </p:txBody>
      </p:sp>
      <p:sp>
        <p:nvSpPr>
          <p:cNvPr id="6" name="TextBox 5"/>
          <p:cNvSpPr txBox="1"/>
          <p:nvPr/>
        </p:nvSpPr>
        <p:spPr>
          <a:xfrm>
            <a:off x="11155680" y="256032"/>
            <a:ext cx="914400" cy="320040"/>
          </a:xfrm>
          <a:prstGeom prst="rect">
            <a:avLst/>
          </a:prstGeom>
          <a:noFill/>
        </p:spPr>
        <p:txBody>
          <a:bodyPr wrap="square" anchor="t" lIns="0" rIns="0" tIns="0" bIns="0">
            <a:spAutoFit/>
          </a:bodyPr>
          <a:lstStyle/>
          <a:p>
            <a:pPr algn="r"/>
            <a:r>
              <a:rPr sz="1400" b="1">
                <a:solidFill>
                  <a:srgbClr val="FFFFFF"/>
                </a:solidFill>
                <a:latin typeface="Calibri"/>
              </a:rPr>
              <a:t>Sia</a:t>
            </a:r>
          </a:p>
        </p:txBody>
      </p:sp>
      <p:sp>
        <p:nvSpPr>
          <p:cNvPr id="7" name="Rectangle 6"/>
          <p:cNvSpPr/>
          <p:nvPr/>
        </p:nvSpPr>
        <p:spPr>
          <a:xfrm>
            <a:off x="365760" y="1051560"/>
            <a:ext cx="11460175" cy="502920"/>
          </a:xfrm>
          <a:prstGeom prst="rect">
            <a:avLst/>
          </a:prstGeom>
          <a:solidFill>
            <a:srgbClr val="F2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1480" y="1097280"/>
            <a:ext cx="3728618" cy="411480"/>
          </a:xfrm>
          <a:prstGeom prst="rect">
            <a:avLst/>
          </a:prstGeom>
          <a:solidFill>
            <a:srgbClr val="0A1F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097280"/>
            <a:ext cx="1188720" cy="228600"/>
          </a:xfrm>
          <a:prstGeom prst="rect">
            <a:avLst/>
          </a:prstGeom>
          <a:noFill/>
        </p:spPr>
        <p:txBody>
          <a:bodyPr wrap="square" anchor="ctr" lIns="0" rIns="0" tIns="0" bIns="0">
            <a:spAutoFit/>
          </a:bodyPr>
          <a:lstStyle/>
          <a:p>
            <a:pPr algn="l"/>
            <a:r>
              <a:rPr sz="1300" b="1">
                <a:solidFill>
                  <a:srgbClr val="FFFFFF"/>
                </a:solidFill>
                <a:latin typeface="Calibri"/>
              </a:rPr>
              <a:t>CADRAGE</a:t>
            </a:r>
          </a:p>
        </p:txBody>
      </p:sp>
      <p:sp>
        <p:nvSpPr>
          <p:cNvPr id="10" name="TextBox 9"/>
          <p:cNvSpPr txBox="1"/>
          <p:nvPr/>
        </p:nvSpPr>
        <p:spPr>
          <a:xfrm>
            <a:off x="1737360" y="1097280"/>
            <a:ext cx="2357018" cy="411480"/>
          </a:xfrm>
          <a:prstGeom prst="rect">
            <a:avLst/>
          </a:prstGeom>
          <a:noFill/>
        </p:spPr>
        <p:txBody>
          <a:bodyPr wrap="square" anchor="ctr" lIns="0" rIns="0" tIns="0" bIns="0">
            <a:spAutoFit/>
          </a:bodyPr>
          <a:lstStyle/>
          <a:p>
            <a:pPr algn="l"/>
            <a:r>
              <a:rPr sz="1000" b="0">
                <a:solidFill>
                  <a:srgbClr val="FFFFFF"/>
                </a:solidFill>
                <a:latin typeface="Calibri"/>
              </a:rPr>
              <a:t>Chiffrer et arbitrer avant d'engager le budget</a:t>
            </a:r>
          </a:p>
        </p:txBody>
      </p:sp>
      <p:sp>
        <p:nvSpPr>
          <p:cNvPr id="11" name="Rectangle 10"/>
          <p:cNvSpPr/>
          <p:nvPr/>
        </p:nvSpPr>
        <p:spPr>
          <a:xfrm>
            <a:off x="4231538" y="1097280"/>
            <a:ext cx="3728618" cy="411480"/>
          </a:xfrm>
          <a:prstGeom prst="rect">
            <a:avLst/>
          </a:prstGeom>
          <a:solidFill>
            <a:srgbClr val="1E55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368698" y="1097280"/>
            <a:ext cx="1188720" cy="228600"/>
          </a:xfrm>
          <a:prstGeom prst="rect">
            <a:avLst/>
          </a:prstGeom>
          <a:noFill/>
        </p:spPr>
        <p:txBody>
          <a:bodyPr wrap="square" anchor="ctr" lIns="0" rIns="0" tIns="0" bIns="0">
            <a:spAutoFit/>
          </a:bodyPr>
          <a:lstStyle/>
          <a:p>
            <a:pPr algn="l"/>
            <a:r>
              <a:rPr sz="1300" b="1">
                <a:solidFill>
                  <a:srgbClr val="FFFFFF"/>
                </a:solidFill>
                <a:latin typeface="Calibri"/>
              </a:rPr>
              <a:t>BUILD</a:t>
            </a:r>
          </a:p>
        </p:txBody>
      </p:sp>
      <p:sp>
        <p:nvSpPr>
          <p:cNvPr id="13" name="TextBox 12"/>
          <p:cNvSpPr txBox="1"/>
          <p:nvPr/>
        </p:nvSpPr>
        <p:spPr>
          <a:xfrm>
            <a:off x="5557418" y="1097280"/>
            <a:ext cx="2357018" cy="411480"/>
          </a:xfrm>
          <a:prstGeom prst="rect">
            <a:avLst/>
          </a:prstGeom>
          <a:noFill/>
        </p:spPr>
        <p:txBody>
          <a:bodyPr wrap="square" anchor="ctr" lIns="0" rIns="0" tIns="0" bIns="0">
            <a:spAutoFit/>
          </a:bodyPr>
          <a:lstStyle/>
          <a:p>
            <a:pPr algn="l"/>
            <a:r>
              <a:rPr sz="1000" b="0">
                <a:solidFill>
                  <a:srgbClr val="FFFFFF"/>
                </a:solidFill>
                <a:latin typeface="Calibri"/>
              </a:rPr>
              <a:t>Piloter les couts au fil du developpement</a:t>
            </a:r>
          </a:p>
        </p:txBody>
      </p:sp>
      <p:sp>
        <p:nvSpPr>
          <p:cNvPr id="14" name="Rectangle 13"/>
          <p:cNvSpPr/>
          <p:nvPr/>
        </p:nvSpPr>
        <p:spPr>
          <a:xfrm>
            <a:off x="8051596" y="1097280"/>
            <a:ext cx="3728618" cy="411480"/>
          </a:xfrm>
          <a:prstGeom prst="rect">
            <a:avLst/>
          </a:prstGeom>
          <a:solidFill>
            <a:srgbClr val="5B9B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88756" y="1097280"/>
            <a:ext cx="1188720" cy="228600"/>
          </a:xfrm>
          <a:prstGeom prst="rect">
            <a:avLst/>
          </a:prstGeom>
          <a:noFill/>
        </p:spPr>
        <p:txBody>
          <a:bodyPr wrap="square" anchor="ctr" lIns="0" rIns="0" tIns="0" bIns="0">
            <a:spAutoFit/>
          </a:bodyPr>
          <a:lstStyle/>
          <a:p>
            <a:pPr algn="l"/>
            <a:r>
              <a:rPr sz="1300" b="1">
                <a:solidFill>
                  <a:srgbClr val="FFFFFF"/>
                </a:solidFill>
                <a:latin typeface="Calibri"/>
              </a:rPr>
              <a:t>RUN</a:t>
            </a:r>
          </a:p>
        </p:txBody>
      </p:sp>
      <p:sp>
        <p:nvSpPr>
          <p:cNvPr id="16" name="TextBox 15"/>
          <p:cNvSpPr txBox="1"/>
          <p:nvPr/>
        </p:nvSpPr>
        <p:spPr>
          <a:xfrm>
            <a:off x="9377476" y="1097280"/>
            <a:ext cx="2357018" cy="411480"/>
          </a:xfrm>
          <a:prstGeom prst="rect">
            <a:avLst/>
          </a:prstGeom>
          <a:noFill/>
        </p:spPr>
        <p:txBody>
          <a:bodyPr wrap="square" anchor="ctr" lIns="0" rIns="0" tIns="0" bIns="0">
            <a:spAutoFit/>
          </a:bodyPr>
          <a:lstStyle/>
          <a:p>
            <a:pPr algn="l"/>
            <a:r>
              <a:rPr sz="1000" b="0">
                <a:solidFill>
                  <a:srgbClr val="FFFFFF"/>
                </a:solidFill>
                <a:latin typeface="Calibri"/>
              </a:rPr>
              <a:t>Anticiper et proteger le budget en production</a:t>
            </a:r>
          </a:p>
        </p:txBody>
      </p:sp>
      <p:sp>
        <p:nvSpPr>
          <p:cNvPr id="17" name="Rectangle 16"/>
          <p:cNvSpPr/>
          <p:nvPr/>
        </p:nvSpPr>
        <p:spPr>
          <a:xfrm>
            <a:off x="365760" y="1691640"/>
            <a:ext cx="109728" cy="3749039"/>
          </a:xfrm>
          <a:prstGeom prst="rect">
            <a:avLst/>
          </a:prstGeom>
          <a:solidFill>
            <a:srgbClr val="0A1F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75488" y="1691640"/>
            <a:ext cx="3588410" cy="3749039"/>
          </a:xfrm>
          <a:prstGeom prst="rect">
            <a:avLst/>
          </a:prstGeom>
          <a:solidFill>
            <a:srgbClr val="FFFFFF"/>
          </a:solidFill>
          <a:ln>
            <a:solidFill>
              <a:srgbClr val="0A1F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1792" y="1828800"/>
            <a:ext cx="3332378" cy="228600"/>
          </a:xfrm>
          <a:prstGeom prst="rect">
            <a:avLst/>
          </a:prstGeom>
          <a:noFill/>
        </p:spPr>
        <p:txBody>
          <a:bodyPr wrap="square" anchor="t" lIns="0" rIns="0" tIns="0" bIns="0">
            <a:spAutoFit/>
          </a:bodyPr>
          <a:lstStyle/>
          <a:p>
            <a:pPr algn="l"/>
            <a:r>
              <a:rPr sz="1000" b="1">
                <a:solidFill>
                  <a:srgbClr val="E60028"/>
                </a:solidFill>
                <a:latin typeface="Calibri"/>
              </a:rPr>
              <a:t>Les questions auxquelles vous repondez</a:t>
            </a:r>
          </a:p>
        </p:txBody>
      </p:sp>
      <p:sp>
        <p:nvSpPr>
          <p:cNvPr id="20" name="TextBox 19"/>
          <p:cNvSpPr txBox="1"/>
          <p:nvPr/>
        </p:nvSpPr>
        <p:spPr>
          <a:xfrm>
            <a:off x="621792" y="2103120"/>
            <a:ext cx="3332378" cy="365760"/>
          </a:xfrm>
          <a:prstGeom prst="rect">
            <a:avLst/>
          </a:prstGeom>
          <a:noFill/>
        </p:spPr>
        <p:txBody>
          <a:bodyPr wrap="square" anchor="t" lIns="0" rIns="0" tIns="0" bIns="0">
            <a:spAutoFit/>
          </a:bodyPr>
          <a:lstStyle/>
          <a:p>
            <a:pPr algn="l"/>
            <a:r>
              <a:rPr sz="900" b="0">
                <a:solidFill>
                  <a:srgbClr val="0A1F44"/>
                </a:solidFill>
                <a:latin typeface="Calibri"/>
              </a:rPr>
              <a:t>? Combien ce projet IA va-t-il vraiment couter par mois ?</a:t>
            </a:r>
          </a:p>
        </p:txBody>
      </p:sp>
      <p:sp>
        <p:nvSpPr>
          <p:cNvPr id="21" name="TextBox 20"/>
          <p:cNvSpPr txBox="1"/>
          <p:nvPr/>
        </p:nvSpPr>
        <p:spPr>
          <a:xfrm>
            <a:off x="621792" y="2395728"/>
            <a:ext cx="3332378" cy="365760"/>
          </a:xfrm>
          <a:prstGeom prst="rect">
            <a:avLst/>
          </a:prstGeom>
          <a:noFill/>
        </p:spPr>
        <p:txBody>
          <a:bodyPr wrap="square" anchor="t" lIns="0" rIns="0" tIns="0" bIns="0">
            <a:spAutoFit/>
          </a:bodyPr>
          <a:lstStyle/>
          <a:p>
            <a:pPr algn="l"/>
            <a:r>
              <a:rPr sz="900" b="0">
                <a:solidFill>
                  <a:srgbClr val="0A1F44"/>
                </a:solidFill>
                <a:latin typeface="Calibri"/>
              </a:rPr>
              <a:t>? Quelle architecture retenir. Cloud Run, VM, serverless ?</a:t>
            </a:r>
          </a:p>
        </p:txBody>
      </p:sp>
      <p:sp>
        <p:nvSpPr>
          <p:cNvPr id="22" name="TextBox 21"/>
          <p:cNvSpPr txBox="1"/>
          <p:nvPr/>
        </p:nvSpPr>
        <p:spPr>
          <a:xfrm>
            <a:off x="621792" y="2688336"/>
            <a:ext cx="3332378" cy="365760"/>
          </a:xfrm>
          <a:prstGeom prst="rect">
            <a:avLst/>
          </a:prstGeom>
          <a:noFill/>
        </p:spPr>
        <p:txBody>
          <a:bodyPr wrap="square" anchor="t" lIns="0" rIns="0" tIns="0" bIns="0">
            <a:spAutoFit/>
          </a:bodyPr>
          <a:lstStyle/>
          <a:p>
            <a:pPr algn="l"/>
            <a:r>
              <a:rPr sz="900" b="0">
                <a:solidFill>
                  <a:srgbClr val="0A1F44"/>
                </a:solidFill>
                <a:latin typeface="Calibri"/>
              </a:rPr>
              <a:t>? Quel LLM. Sonnet, Haiku, open source auto-heberge ?</a:t>
            </a:r>
          </a:p>
        </p:txBody>
      </p:sp>
      <p:sp>
        <p:nvSpPr>
          <p:cNvPr id="23" name="TextBox 22"/>
          <p:cNvSpPr txBox="1"/>
          <p:nvPr/>
        </p:nvSpPr>
        <p:spPr>
          <a:xfrm>
            <a:off x="621792" y="2980944"/>
            <a:ext cx="3332378" cy="365760"/>
          </a:xfrm>
          <a:prstGeom prst="rect">
            <a:avLst/>
          </a:prstGeom>
          <a:noFill/>
        </p:spPr>
        <p:txBody>
          <a:bodyPr wrap="square" anchor="t" lIns="0" rIns="0" tIns="0" bIns="0">
            <a:spAutoFit/>
          </a:bodyPr>
          <a:lstStyle/>
          <a:p>
            <a:pPr algn="l"/>
            <a:r>
              <a:rPr sz="900" b="0">
                <a:solidFill>
                  <a:srgbClr val="0A1F44"/>
                </a:solidFill>
                <a:latin typeface="Calibri"/>
              </a:rPr>
              <a:t>? Quels sont les risques a documenter pour le COMEX ?</a:t>
            </a:r>
          </a:p>
        </p:txBody>
      </p:sp>
      <p:sp>
        <p:nvSpPr>
          <p:cNvPr id="24" name="Rectangle 23"/>
          <p:cNvSpPr/>
          <p:nvPr/>
        </p:nvSpPr>
        <p:spPr>
          <a:xfrm>
            <a:off x="621792" y="3291840"/>
            <a:ext cx="3332378" cy="18288"/>
          </a:xfrm>
          <a:prstGeom prst="rect">
            <a:avLst/>
          </a:prstGeom>
          <a:solidFill>
            <a:srgbClr val="F2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21792" y="3383280"/>
            <a:ext cx="3332378" cy="228600"/>
          </a:xfrm>
          <a:prstGeom prst="rect">
            <a:avLst/>
          </a:prstGeom>
          <a:noFill/>
        </p:spPr>
        <p:txBody>
          <a:bodyPr wrap="square" anchor="t" lIns="0" rIns="0" tIns="0" bIns="0">
            <a:spAutoFit/>
          </a:bodyPr>
          <a:lstStyle/>
          <a:p>
            <a:pPr algn="l"/>
            <a:r>
              <a:rPr sz="1000" b="1">
                <a:solidFill>
                  <a:srgbClr val="0A1F44"/>
                </a:solidFill>
                <a:latin typeface="Calibri"/>
              </a:rPr>
              <a:t>Ce que la plateforme apporte</a:t>
            </a:r>
          </a:p>
        </p:txBody>
      </p:sp>
      <p:sp>
        <p:nvSpPr>
          <p:cNvPr id="26" name="Rectangle 25"/>
          <p:cNvSpPr/>
          <p:nvPr/>
        </p:nvSpPr>
        <p:spPr>
          <a:xfrm>
            <a:off x="640080" y="3712464"/>
            <a:ext cx="64008" cy="64008"/>
          </a:xfrm>
          <a:prstGeom prst="rect">
            <a:avLst/>
          </a:prstGeom>
          <a:solidFill>
            <a:srgbClr val="0A1F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77240" y="3639312"/>
            <a:ext cx="3195218" cy="365760"/>
          </a:xfrm>
          <a:prstGeom prst="rect">
            <a:avLst/>
          </a:prstGeom>
          <a:noFill/>
        </p:spPr>
        <p:txBody>
          <a:bodyPr wrap="square" anchor="t" lIns="0" rIns="0" tIns="0" bIns="0">
            <a:spAutoFit/>
          </a:bodyPr>
          <a:lstStyle/>
          <a:p>
            <a:pPr algn="l"/>
            <a:r>
              <a:rPr sz="900" b="0">
                <a:solidFill>
                  <a:srgbClr val="0A1F44"/>
                </a:solidFill>
                <a:latin typeface="Calibri"/>
              </a:rPr>
              <a:t>Simulateur de cout projet IA (LLM, tools, users, deploiement).</a:t>
            </a:r>
          </a:p>
        </p:txBody>
      </p:sp>
      <p:sp>
        <p:nvSpPr>
          <p:cNvPr id="28" name="Rectangle 27"/>
          <p:cNvSpPr/>
          <p:nvPr/>
        </p:nvSpPr>
        <p:spPr>
          <a:xfrm>
            <a:off x="640080" y="3986784"/>
            <a:ext cx="64008" cy="64008"/>
          </a:xfrm>
          <a:prstGeom prst="rect">
            <a:avLst/>
          </a:prstGeom>
          <a:solidFill>
            <a:srgbClr val="0A1F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77240" y="3913632"/>
            <a:ext cx="3195218" cy="365760"/>
          </a:xfrm>
          <a:prstGeom prst="rect">
            <a:avLst/>
          </a:prstGeom>
          <a:noFill/>
        </p:spPr>
        <p:txBody>
          <a:bodyPr wrap="square" anchor="t" lIns="0" rIns="0" tIns="0" bIns="0">
            <a:spAutoFit/>
          </a:bodyPr>
          <a:lstStyle/>
          <a:p>
            <a:pPr algn="l"/>
            <a:r>
              <a:rPr sz="900" b="0">
                <a:solidFill>
                  <a:srgbClr val="0A1F44"/>
                </a:solidFill>
                <a:latin typeface="Calibri"/>
              </a:rPr>
              <a:t>Catalogue de pricing LLM et outils actualise.</a:t>
            </a:r>
          </a:p>
        </p:txBody>
      </p:sp>
      <p:sp>
        <p:nvSpPr>
          <p:cNvPr id="30" name="Rectangle 29"/>
          <p:cNvSpPr/>
          <p:nvPr/>
        </p:nvSpPr>
        <p:spPr>
          <a:xfrm>
            <a:off x="640080" y="4261104"/>
            <a:ext cx="64008" cy="64008"/>
          </a:xfrm>
          <a:prstGeom prst="rect">
            <a:avLst/>
          </a:prstGeom>
          <a:solidFill>
            <a:srgbClr val="0A1F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77240" y="4187952"/>
            <a:ext cx="3195218" cy="365760"/>
          </a:xfrm>
          <a:prstGeom prst="rect">
            <a:avLst/>
          </a:prstGeom>
          <a:noFill/>
        </p:spPr>
        <p:txBody>
          <a:bodyPr wrap="square" anchor="t" lIns="0" rIns="0" tIns="0" bIns="0">
            <a:spAutoFit/>
          </a:bodyPr>
          <a:lstStyle/>
          <a:p>
            <a:pPr algn="l"/>
            <a:r>
              <a:rPr sz="900" b="0">
                <a:solidFill>
                  <a:srgbClr val="0A1F44"/>
                </a:solidFill>
                <a:latin typeface="Calibri"/>
              </a:rPr>
              <a:t>Recommandations d'architecture chiffrees.</a:t>
            </a:r>
          </a:p>
        </p:txBody>
      </p:sp>
      <p:sp>
        <p:nvSpPr>
          <p:cNvPr id="32" name="Rectangle 31"/>
          <p:cNvSpPr/>
          <p:nvPr/>
        </p:nvSpPr>
        <p:spPr>
          <a:xfrm>
            <a:off x="640080" y="4535424"/>
            <a:ext cx="64008" cy="64008"/>
          </a:xfrm>
          <a:prstGeom prst="rect">
            <a:avLst/>
          </a:prstGeom>
          <a:solidFill>
            <a:srgbClr val="0A1F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77240" y="4462272"/>
            <a:ext cx="3195218" cy="365760"/>
          </a:xfrm>
          <a:prstGeom prst="rect">
            <a:avLst/>
          </a:prstGeom>
          <a:noFill/>
        </p:spPr>
        <p:txBody>
          <a:bodyPr wrap="square" anchor="t" lIns="0" rIns="0" tIns="0" bIns="0">
            <a:spAutoFit/>
          </a:bodyPr>
          <a:lstStyle/>
          <a:p>
            <a:pPr algn="l"/>
            <a:r>
              <a:rPr sz="900" b="0">
                <a:solidFill>
                  <a:srgbClr val="0A1F44"/>
                </a:solidFill>
                <a:latin typeface="Calibri"/>
              </a:rPr>
              <a:t>Matrice de risques automatique.</a:t>
            </a:r>
          </a:p>
        </p:txBody>
      </p:sp>
      <p:sp>
        <p:nvSpPr>
          <p:cNvPr id="34" name="Rectangle 33"/>
          <p:cNvSpPr/>
          <p:nvPr/>
        </p:nvSpPr>
        <p:spPr>
          <a:xfrm>
            <a:off x="640080" y="4809744"/>
            <a:ext cx="64008" cy="64008"/>
          </a:xfrm>
          <a:prstGeom prst="rect">
            <a:avLst/>
          </a:prstGeom>
          <a:solidFill>
            <a:srgbClr val="0A1F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77240" y="4736592"/>
            <a:ext cx="3195218" cy="365760"/>
          </a:xfrm>
          <a:prstGeom prst="rect">
            <a:avLst/>
          </a:prstGeom>
          <a:noFill/>
        </p:spPr>
        <p:txBody>
          <a:bodyPr wrap="square" anchor="t" lIns="0" rIns="0" tIns="0" bIns="0">
            <a:spAutoFit/>
          </a:bodyPr>
          <a:lstStyle/>
          <a:p>
            <a:pPr algn="l"/>
            <a:r>
              <a:rPr sz="900" b="0">
                <a:solidFill>
                  <a:srgbClr val="0A1F44"/>
                </a:solidFill>
                <a:latin typeface="Calibri"/>
              </a:rPr>
              <a:t>Export du business case pour comite d'investissement.</a:t>
            </a:r>
          </a:p>
        </p:txBody>
      </p:sp>
      <p:sp>
        <p:nvSpPr>
          <p:cNvPr id="36" name="Rectangle 35"/>
          <p:cNvSpPr/>
          <p:nvPr/>
        </p:nvSpPr>
        <p:spPr>
          <a:xfrm>
            <a:off x="4246778" y="1691640"/>
            <a:ext cx="109728" cy="3749039"/>
          </a:xfrm>
          <a:prstGeom prst="rect">
            <a:avLst/>
          </a:prstGeom>
          <a:solidFill>
            <a:srgbClr val="1E55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356506" y="1691640"/>
            <a:ext cx="3588410" cy="3749039"/>
          </a:xfrm>
          <a:prstGeom prst="rect">
            <a:avLst/>
          </a:prstGeom>
          <a:solidFill>
            <a:srgbClr val="FFFFFF"/>
          </a:solidFill>
          <a:ln>
            <a:solidFill>
              <a:srgbClr val="0A1F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502810" y="1828800"/>
            <a:ext cx="3332378" cy="228600"/>
          </a:xfrm>
          <a:prstGeom prst="rect">
            <a:avLst/>
          </a:prstGeom>
          <a:noFill/>
        </p:spPr>
        <p:txBody>
          <a:bodyPr wrap="square" anchor="t" lIns="0" rIns="0" tIns="0" bIns="0">
            <a:spAutoFit/>
          </a:bodyPr>
          <a:lstStyle/>
          <a:p>
            <a:pPr algn="l"/>
            <a:r>
              <a:rPr sz="1000" b="1">
                <a:solidFill>
                  <a:srgbClr val="E60028"/>
                </a:solidFill>
                <a:latin typeface="Calibri"/>
              </a:rPr>
              <a:t>Les questions auxquelles vous repondez</a:t>
            </a:r>
          </a:p>
        </p:txBody>
      </p:sp>
      <p:sp>
        <p:nvSpPr>
          <p:cNvPr id="39" name="TextBox 38"/>
          <p:cNvSpPr txBox="1"/>
          <p:nvPr/>
        </p:nvSpPr>
        <p:spPr>
          <a:xfrm>
            <a:off x="4502810" y="2103120"/>
            <a:ext cx="3332378" cy="365760"/>
          </a:xfrm>
          <a:prstGeom prst="rect">
            <a:avLst/>
          </a:prstGeom>
          <a:noFill/>
        </p:spPr>
        <p:txBody>
          <a:bodyPr wrap="square" anchor="t" lIns="0" rIns="0" tIns="0" bIns="0">
            <a:spAutoFit/>
          </a:bodyPr>
          <a:lstStyle/>
          <a:p>
            <a:pPr algn="l"/>
            <a:r>
              <a:rPr sz="900" b="0">
                <a:solidFill>
                  <a:srgbClr val="0A1F44"/>
                </a:solidFill>
                <a:latin typeface="Calibri"/>
              </a:rPr>
              <a:t>? Sommes-nous dans l'enveloppe validee au cadrage ?</a:t>
            </a:r>
          </a:p>
        </p:txBody>
      </p:sp>
      <p:sp>
        <p:nvSpPr>
          <p:cNvPr id="40" name="TextBox 39"/>
          <p:cNvSpPr txBox="1"/>
          <p:nvPr/>
        </p:nvSpPr>
        <p:spPr>
          <a:xfrm>
            <a:off x="4502810" y="2395728"/>
            <a:ext cx="3332378" cy="365760"/>
          </a:xfrm>
          <a:prstGeom prst="rect">
            <a:avLst/>
          </a:prstGeom>
          <a:noFill/>
        </p:spPr>
        <p:txBody>
          <a:bodyPr wrap="square" anchor="t" lIns="0" rIns="0" tIns="0" bIns="0">
            <a:spAutoFit/>
          </a:bodyPr>
          <a:lstStyle/>
          <a:p>
            <a:pPr algn="l"/>
            <a:r>
              <a:rPr sz="900" b="0">
                <a:solidFill>
                  <a:srgbClr val="0A1F44"/>
                </a:solidFill>
                <a:latin typeface="Calibri"/>
              </a:rPr>
              <a:t>? Ou partent les tokens sur cette semaine de sprint ?</a:t>
            </a:r>
          </a:p>
        </p:txBody>
      </p:sp>
      <p:sp>
        <p:nvSpPr>
          <p:cNvPr id="41" name="TextBox 40"/>
          <p:cNvSpPr txBox="1"/>
          <p:nvPr/>
        </p:nvSpPr>
        <p:spPr>
          <a:xfrm>
            <a:off x="4502810" y="2688336"/>
            <a:ext cx="3332378" cy="365760"/>
          </a:xfrm>
          <a:prstGeom prst="rect">
            <a:avLst/>
          </a:prstGeom>
          <a:noFill/>
        </p:spPr>
        <p:txBody>
          <a:bodyPr wrap="square" anchor="t" lIns="0" rIns="0" tIns="0" bIns="0">
            <a:spAutoFit/>
          </a:bodyPr>
          <a:lstStyle/>
          <a:p>
            <a:pPr algn="l"/>
            <a:r>
              <a:rPr sz="900" b="0">
                <a:solidFill>
                  <a:srgbClr val="0A1F44"/>
                </a:solidFill>
                <a:latin typeface="Calibri"/>
              </a:rPr>
              <a:t>? Le cout unitaire par requete s'ameliore ou se degrade ?</a:t>
            </a:r>
          </a:p>
        </p:txBody>
      </p:sp>
      <p:sp>
        <p:nvSpPr>
          <p:cNvPr id="42" name="TextBox 41"/>
          <p:cNvSpPr txBox="1"/>
          <p:nvPr/>
        </p:nvSpPr>
        <p:spPr>
          <a:xfrm>
            <a:off x="4502810" y="2980944"/>
            <a:ext cx="3332378" cy="365760"/>
          </a:xfrm>
          <a:prstGeom prst="rect">
            <a:avLst/>
          </a:prstGeom>
          <a:noFill/>
        </p:spPr>
        <p:txBody>
          <a:bodyPr wrap="square" anchor="t" lIns="0" rIns="0" tIns="0" bIns="0">
            <a:spAutoFit/>
          </a:bodyPr>
          <a:lstStyle/>
          <a:p>
            <a:pPr algn="l"/>
            <a:r>
              <a:rPr sz="900" b="0">
                <a:solidFill>
                  <a:srgbClr val="0A1F44"/>
                </a:solidFill>
                <a:latin typeface="Calibri"/>
              </a:rPr>
              <a:t>? Une derive s'est-elle installee entre deux commits ?</a:t>
            </a:r>
          </a:p>
        </p:txBody>
      </p:sp>
      <p:sp>
        <p:nvSpPr>
          <p:cNvPr id="43" name="Rectangle 42"/>
          <p:cNvSpPr/>
          <p:nvPr/>
        </p:nvSpPr>
        <p:spPr>
          <a:xfrm>
            <a:off x="4502810" y="3291840"/>
            <a:ext cx="3332378" cy="18288"/>
          </a:xfrm>
          <a:prstGeom prst="rect">
            <a:avLst/>
          </a:prstGeom>
          <a:solidFill>
            <a:srgbClr val="F2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502810" y="3383280"/>
            <a:ext cx="3332378" cy="228600"/>
          </a:xfrm>
          <a:prstGeom prst="rect">
            <a:avLst/>
          </a:prstGeom>
          <a:noFill/>
        </p:spPr>
        <p:txBody>
          <a:bodyPr wrap="square" anchor="t" lIns="0" rIns="0" tIns="0" bIns="0">
            <a:spAutoFit/>
          </a:bodyPr>
          <a:lstStyle/>
          <a:p>
            <a:pPr algn="l"/>
            <a:r>
              <a:rPr sz="1000" b="1">
                <a:solidFill>
                  <a:srgbClr val="0A1F44"/>
                </a:solidFill>
                <a:latin typeface="Calibri"/>
              </a:rPr>
              <a:t>Ce que la plateforme apporte</a:t>
            </a:r>
          </a:p>
        </p:txBody>
      </p:sp>
      <p:sp>
        <p:nvSpPr>
          <p:cNvPr id="45" name="Rectangle 44"/>
          <p:cNvSpPr/>
          <p:nvPr/>
        </p:nvSpPr>
        <p:spPr>
          <a:xfrm>
            <a:off x="4521098" y="3712464"/>
            <a:ext cx="64008" cy="64008"/>
          </a:xfrm>
          <a:prstGeom prst="rect">
            <a:avLst/>
          </a:prstGeom>
          <a:solidFill>
            <a:srgbClr val="1E55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4658258" y="3639312"/>
            <a:ext cx="3195218" cy="365760"/>
          </a:xfrm>
          <a:prstGeom prst="rect">
            <a:avLst/>
          </a:prstGeom>
          <a:noFill/>
        </p:spPr>
        <p:txBody>
          <a:bodyPr wrap="square" anchor="t" lIns="0" rIns="0" tIns="0" bIns="0">
            <a:spAutoFit/>
          </a:bodyPr>
          <a:lstStyle/>
          <a:p>
            <a:pPr algn="l"/>
            <a:r>
              <a:rPr sz="900" b="0">
                <a:solidFill>
                  <a:srgbClr val="0A1F44"/>
                </a:solidFill>
                <a:latin typeface="Calibri"/>
              </a:rPr>
              <a:t>Suivi journalier des couts dev, staging et prod par service.</a:t>
            </a:r>
          </a:p>
        </p:txBody>
      </p:sp>
      <p:sp>
        <p:nvSpPr>
          <p:cNvPr id="47" name="Rectangle 46"/>
          <p:cNvSpPr/>
          <p:nvPr/>
        </p:nvSpPr>
        <p:spPr>
          <a:xfrm>
            <a:off x="4521098" y="3986784"/>
            <a:ext cx="64008" cy="64008"/>
          </a:xfrm>
          <a:prstGeom prst="rect">
            <a:avLst/>
          </a:prstGeom>
          <a:solidFill>
            <a:srgbClr val="1E55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658258" y="3913632"/>
            <a:ext cx="3195218" cy="365760"/>
          </a:xfrm>
          <a:prstGeom prst="rect">
            <a:avLst/>
          </a:prstGeom>
          <a:noFill/>
        </p:spPr>
        <p:txBody>
          <a:bodyPr wrap="square" anchor="t" lIns="0" rIns="0" tIns="0" bIns="0">
            <a:spAutoFit/>
          </a:bodyPr>
          <a:lstStyle/>
          <a:p>
            <a:pPr algn="l"/>
            <a:r>
              <a:rPr sz="900" b="0">
                <a:solidFill>
                  <a:srgbClr val="0A1F44"/>
                </a:solidFill>
                <a:latin typeface="Calibri"/>
              </a:rPr>
              <a:t>Detection precoce de drift entre deux periodes de sprint.</a:t>
            </a:r>
          </a:p>
        </p:txBody>
      </p:sp>
      <p:sp>
        <p:nvSpPr>
          <p:cNvPr id="49" name="Rectangle 48"/>
          <p:cNvSpPr/>
          <p:nvPr/>
        </p:nvSpPr>
        <p:spPr>
          <a:xfrm>
            <a:off x="4521098" y="4261104"/>
            <a:ext cx="64008" cy="64008"/>
          </a:xfrm>
          <a:prstGeom prst="rect">
            <a:avLst/>
          </a:prstGeom>
          <a:solidFill>
            <a:srgbClr val="1E55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4658258" y="4187952"/>
            <a:ext cx="3195218" cy="365760"/>
          </a:xfrm>
          <a:prstGeom prst="rect">
            <a:avLst/>
          </a:prstGeom>
          <a:noFill/>
        </p:spPr>
        <p:txBody>
          <a:bodyPr wrap="square" anchor="t" lIns="0" rIns="0" tIns="0" bIns="0">
            <a:spAutoFit/>
          </a:bodyPr>
          <a:lstStyle/>
          <a:p>
            <a:pPr algn="l"/>
            <a:r>
              <a:rPr sz="900" b="0">
                <a:solidFill>
                  <a:srgbClr val="0A1F44"/>
                </a:solidFill>
                <a:latin typeface="Calibri"/>
              </a:rPr>
              <a:t>Anomalies et outliers detectes des l'apparition.</a:t>
            </a:r>
          </a:p>
        </p:txBody>
      </p:sp>
      <p:sp>
        <p:nvSpPr>
          <p:cNvPr id="51" name="Rectangle 50"/>
          <p:cNvSpPr/>
          <p:nvPr/>
        </p:nvSpPr>
        <p:spPr>
          <a:xfrm>
            <a:off x="4521098" y="4535424"/>
            <a:ext cx="64008" cy="64008"/>
          </a:xfrm>
          <a:prstGeom prst="rect">
            <a:avLst/>
          </a:prstGeom>
          <a:solidFill>
            <a:srgbClr val="1E55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4658258" y="4462272"/>
            <a:ext cx="3195218" cy="365760"/>
          </a:xfrm>
          <a:prstGeom prst="rect">
            <a:avLst/>
          </a:prstGeom>
          <a:noFill/>
        </p:spPr>
        <p:txBody>
          <a:bodyPr wrap="square" anchor="t" lIns="0" rIns="0" tIns="0" bIns="0">
            <a:spAutoFit/>
          </a:bodyPr>
          <a:lstStyle/>
          <a:p>
            <a:pPr algn="l"/>
            <a:r>
              <a:rPr sz="900" b="0">
                <a:solidFill>
                  <a:srgbClr val="0A1F44"/>
                </a:solidFill>
                <a:latin typeface="Calibri"/>
              </a:rPr>
              <a:t>Reforecast automatique a chaque nouvelle donnee.</a:t>
            </a:r>
          </a:p>
        </p:txBody>
      </p:sp>
      <p:sp>
        <p:nvSpPr>
          <p:cNvPr id="53" name="Rectangle 52"/>
          <p:cNvSpPr/>
          <p:nvPr/>
        </p:nvSpPr>
        <p:spPr>
          <a:xfrm>
            <a:off x="4521098" y="4809744"/>
            <a:ext cx="64008" cy="64008"/>
          </a:xfrm>
          <a:prstGeom prst="rect">
            <a:avLst/>
          </a:prstGeom>
          <a:solidFill>
            <a:srgbClr val="1E55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4658258" y="4736592"/>
            <a:ext cx="3195218" cy="365760"/>
          </a:xfrm>
          <a:prstGeom prst="rect">
            <a:avLst/>
          </a:prstGeom>
          <a:noFill/>
        </p:spPr>
        <p:txBody>
          <a:bodyPr wrap="square" anchor="t" lIns="0" rIns="0" tIns="0" bIns="0">
            <a:spAutoFit/>
          </a:bodyPr>
          <a:lstStyle/>
          <a:p>
            <a:pPr algn="l"/>
            <a:r>
              <a:rPr sz="900" b="0">
                <a:solidFill>
                  <a:srgbClr val="0A1F44"/>
                </a:solidFill>
                <a:latin typeface="Calibri"/>
              </a:rPr>
              <a:t>Agent conversationnel pour investiguer une derive sans SQL.</a:t>
            </a:r>
          </a:p>
        </p:txBody>
      </p:sp>
      <p:sp>
        <p:nvSpPr>
          <p:cNvPr id="55" name="Rectangle 54"/>
          <p:cNvSpPr/>
          <p:nvPr/>
        </p:nvSpPr>
        <p:spPr>
          <a:xfrm>
            <a:off x="8127796" y="1691640"/>
            <a:ext cx="109728" cy="3749039"/>
          </a:xfrm>
          <a:prstGeom prst="rect">
            <a:avLst/>
          </a:prstGeom>
          <a:solidFill>
            <a:srgbClr val="5B9B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8237524" y="1691640"/>
            <a:ext cx="3588410" cy="3749039"/>
          </a:xfrm>
          <a:prstGeom prst="rect">
            <a:avLst/>
          </a:prstGeom>
          <a:solidFill>
            <a:srgbClr val="FFFFFF"/>
          </a:solidFill>
          <a:ln>
            <a:solidFill>
              <a:srgbClr val="0A1F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8383828" y="1828800"/>
            <a:ext cx="3332378" cy="228600"/>
          </a:xfrm>
          <a:prstGeom prst="rect">
            <a:avLst/>
          </a:prstGeom>
          <a:noFill/>
        </p:spPr>
        <p:txBody>
          <a:bodyPr wrap="square" anchor="t" lIns="0" rIns="0" tIns="0" bIns="0">
            <a:spAutoFit/>
          </a:bodyPr>
          <a:lstStyle/>
          <a:p>
            <a:pPr algn="l"/>
            <a:r>
              <a:rPr sz="1000" b="1">
                <a:solidFill>
                  <a:srgbClr val="E60028"/>
                </a:solidFill>
                <a:latin typeface="Calibri"/>
              </a:rPr>
              <a:t>Les questions auxquelles vous repondez</a:t>
            </a:r>
          </a:p>
        </p:txBody>
      </p:sp>
      <p:sp>
        <p:nvSpPr>
          <p:cNvPr id="58" name="TextBox 57"/>
          <p:cNvSpPr txBox="1"/>
          <p:nvPr/>
        </p:nvSpPr>
        <p:spPr>
          <a:xfrm>
            <a:off x="8383828" y="2103120"/>
            <a:ext cx="3332378" cy="365760"/>
          </a:xfrm>
          <a:prstGeom prst="rect">
            <a:avLst/>
          </a:prstGeom>
          <a:noFill/>
        </p:spPr>
        <p:txBody>
          <a:bodyPr wrap="square" anchor="t" lIns="0" rIns="0" tIns="0" bIns="0">
            <a:spAutoFit/>
          </a:bodyPr>
          <a:lstStyle/>
          <a:p>
            <a:pPr algn="l"/>
            <a:r>
              <a:rPr sz="900" b="0">
                <a:solidFill>
                  <a:srgbClr val="0A1F44"/>
                </a:solidFill>
                <a:latin typeface="Calibri"/>
              </a:rPr>
              <a:t>? Combien va couter le projet le mois prochain ?</a:t>
            </a:r>
          </a:p>
        </p:txBody>
      </p:sp>
      <p:sp>
        <p:nvSpPr>
          <p:cNvPr id="59" name="TextBox 58"/>
          <p:cNvSpPr txBox="1"/>
          <p:nvPr/>
        </p:nvSpPr>
        <p:spPr>
          <a:xfrm>
            <a:off x="8383828" y="2395728"/>
            <a:ext cx="3332378" cy="365760"/>
          </a:xfrm>
          <a:prstGeom prst="rect">
            <a:avLst/>
          </a:prstGeom>
          <a:noFill/>
        </p:spPr>
        <p:txBody>
          <a:bodyPr wrap="square" anchor="t" lIns="0" rIns="0" tIns="0" bIns="0">
            <a:spAutoFit/>
          </a:bodyPr>
          <a:lstStyle/>
          <a:p>
            <a:pPr algn="l"/>
            <a:r>
              <a:rPr sz="900" b="0">
                <a:solidFill>
                  <a:srgbClr val="0A1F44"/>
                </a:solidFill>
                <a:latin typeface="Calibri"/>
              </a:rPr>
              <a:t>? Une anomalie de facturation est-elle en cours ?</a:t>
            </a:r>
          </a:p>
        </p:txBody>
      </p:sp>
      <p:sp>
        <p:nvSpPr>
          <p:cNvPr id="60" name="TextBox 59"/>
          <p:cNvSpPr txBox="1"/>
          <p:nvPr/>
        </p:nvSpPr>
        <p:spPr>
          <a:xfrm>
            <a:off x="8383828" y="2688336"/>
            <a:ext cx="3332378" cy="365760"/>
          </a:xfrm>
          <a:prstGeom prst="rect">
            <a:avLst/>
          </a:prstGeom>
          <a:noFill/>
        </p:spPr>
        <p:txBody>
          <a:bodyPr wrap="square" anchor="t" lIns="0" rIns="0" tIns="0" bIns="0">
            <a:spAutoFit/>
          </a:bodyPr>
          <a:lstStyle/>
          <a:p>
            <a:pPr algn="l"/>
            <a:r>
              <a:rPr sz="900" b="0">
                <a:solidFill>
                  <a:srgbClr val="0A1F44"/>
                </a:solidFill>
                <a:latin typeface="Calibri"/>
              </a:rPr>
              <a:t>? Une nouvelle campagne va-t-elle exploser mon budget ?</a:t>
            </a:r>
          </a:p>
        </p:txBody>
      </p:sp>
      <p:sp>
        <p:nvSpPr>
          <p:cNvPr id="61" name="TextBox 60"/>
          <p:cNvSpPr txBox="1"/>
          <p:nvPr/>
        </p:nvSpPr>
        <p:spPr>
          <a:xfrm>
            <a:off x="8383828" y="2980944"/>
            <a:ext cx="3332378" cy="365760"/>
          </a:xfrm>
          <a:prstGeom prst="rect">
            <a:avLst/>
          </a:prstGeom>
          <a:noFill/>
        </p:spPr>
        <p:txBody>
          <a:bodyPr wrap="square" anchor="t" lIns="0" rIns="0" tIns="0" bIns="0">
            <a:spAutoFit/>
          </a:bodyPr>
          <a:lstStyle/>
          <a:p>
            <a:pPr algn="l"/>
            <a:r>
              <a:rPr sz="900" b="0">
                <a:solidFill>
                  <a:srgbClr val="0A1F44"/>
                </a:solidFill>
                <a:latin typeface="Calibri"/>
              </a:rPr>
              <a:t>? Ou optimiser en priorite sans degrader la qualite ?</a:t>
            </a:r>
          </a:p>
        </p:txBody>
      </p:sp>
      <p:sp>
        <p:nvSpPr>
          <p:cNvPr id="62" name="Rectangle 61"/>
          <p:cNvSpPr/>
          <p:nvPr/>
        </p:nvSpPr>
        <p:spPr>
          <a:xfrm>
            <a:off x="8383828" y="3291840"/>
            <a:ext cx="3332378" cy="18288"/>
          </a:xfrm>
          <a:prstGeom prst="rect">
            <a:avLst/>
          </a:prstGeom>
          <a:solidFill>
            <a:srgbClr val="F2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8383828" y="3383280"/>
            <a:ext cx="3332378" cy="228600"/>
          </a:xfrm>
          <a:prstGeom prst="rect">
            <a:avLst/>
          </a:prstGeom>
          <a:noFill/>
        </p:spPr>
        <p:txBody>
          <a:bodyPr wrap="square" anchor="t" lIns="0" rIns="0" tIns="0" bIns="0">
            <a:spAutoFit/>
          </a:bodyPr>
          <a:lstStyle/>
          <a:p>
            <a:pPr algn="l"/>
            <a:r>
              <a:rPr sz="1000" b="1">
                <a:solidFill>
                  <a:srgbClr val="0A1F44"/>
                </a:solidFill>
                <a:latin typeface="Calibri"/>
              </a:rPr>
              <a:t>Ce que la plateforme apporte</a:t>
            </a:r>
          </a:p>
        </p:txBody>
      </p:sp>
      <p:sp>
        <p:nvSpPr>
          <p:cNvPr id="64" name="Rectangle 63"/>
          <p:cNvSpPr/>
          <p:nvPr/>
        </p:nvSpPr>
        <p:spPr>
          <a:xfrm>
            <a:off x="8402116" y="3712464"/>
            <a:ext cx="64008" cy="64008"/>
          </a:xfrm>
          <a:prstGeom prst="rect">
            <a:avLst/>
          </a:prstGeom>
          <a:solidFill>
            <a:srgbClr val="5B9B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8539276" y="3639312"/>
            <a:ext cx="3195218" cy="365760"/>
          </a:xfrm>
          <a:prstGeom prst="rect">
            <a:avLst/>
          </a:prstGeom>
          <a:noFill/>
        </p:spPr>
        <p:txBody>
          <a:bodyPr wrap="square" anchor="t" lIns="0" rIns="0" tIns="0" bIns="0">
            <a:spAutoFit/>
          </a:bodyPr>
          <a:lstStyle/>
          <a:p>
            <a:pPr algn="l"/>
            <a:r>
              <a:rPr sz="900" b="0">
                <a:solidFill>
                  <a:srgbClr val="0A1F44"/>
                </a:solidFill>
                <a:latin typeface="Calibri"/>
              </a:rPr>
              <a:t>Forecast 30 / 60 / 90 jours avec intervalles de confiance.</a:t>
            </a:r>
          </a:p>
        </p:txBody>
      </p:sp>
      <p:sp>
        <p:nvSpPr>
          <p:cNvPr id="66" name="Rectangle 65"/>
          <p:cNvSpPr/>
          <p:nvPr/>
        </p:nvSpPr>
        <p:spPr>
          <a:xfrm>
            <a:off x="8402116" y="3986784"/>
            <a:ext cx="64008" cy="64008"/>
          </a:xfrm>
          <a:prstGeom prst="rect">
            <a:avLst/>
          </a:prstGeom>
          <a:solidFill>
            <a:srgbClr val="5B9B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8539276" y="3913632"/>
            <a:ext cx="3195218" cy="365760"/>
          </a:xfrm>
          <a:prstGeom prst="rect">
            <a:avLst/>
          </a:prstGeom>
          <a:noFill/>
        </p:spPr>
        <p:txBody>
          <a:bodyPr wrap="square" anchor="t" lIns="0" rIns="0" tIns="0" bIns="0">
            <a:spAutoFit/>
          </a:bodyPr>
          <a:lstStyle/>
          <a:p>
            <a:pPr algn="l"/>
            <a:r>
              <a:rPr sz="900" b="0">
                <a:solidFill>
                  <a:srgbClr val="0A1F44"/>
                </a:solidFill>
                <a:latin typeface="Calibri"/>
              </a:rPr>
              <a:t>Alertes anomalies et drift, avant l'arrivee de la facture.</a:t>
            </a:r>
          </a:p>
        </p:txBody>
      </p:sp>
      <p:sp>
        <p:nvSpPr>
          <p:cNvPr id="68" name="Rectangle 67"/>
          <p:cNvSpPr/>
          <p:nvPr/>
        </p:nvSpPr>
        <p:spPr>
          <a:xfrm>
            <a:off x="8402116" y="4261104"/>
            <a:ext cx="64008" cy="64008"/>
          </a:xfrm>
          <a:prstGeom prst="rect">
            <a:avLst/>
          </a:prstGeom>
          <a:solidFill>
            <a:srgbClr val="5B9B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8539276" y="4187952"/>
            <a:ext cx="3195218" cy="365760"/>
          </a:xfrm>
          <a:prstGeom prst="rect">
            <a:avLst/>
          </a:prstGeom>
          <a:noFill/>
        </p:spPr>
        <p:txBody>
          <a:bodyPr wrap="square" anchor="t" lIns="0" rIns="0" tIns="0" bIns="0">
            <a:spAutoFit/>
          </a:bodyPr>
          <a:lstStyle/>
          <a:p>
            <a:pPr algn="l"/>
            <a:r>
              <a:rPr sz="900" b="0">
                <a:solidFill>
                  <a:srgbClr val="0A1F44"/>
                </a:solidFill>
                <a:latin typeface="Calibri"/>
              </a:rPr>
              <a:t>Comparaison realise vs prevu, mois par mois.</a:t>
            </a:r>
          </a:p>
        </p:txBody>
      </p:sp>
      <p:sp>
        <p:nvSpPr>
          <p:cNvPr id="70" name="Rectangle 69"/>
          <p:cNvSpPr/>
          <p:nvPr/>
        </p:nvSpPr>
        <p:spPr>
          <a:xfrm>
            <a:off x="8402116" y="4535424"/>
            <a:ext cx="64008" cy="64008"/>
          </a:xfrm>
          <a:prstGeom prst="rect">
            <a:avLst/>
          </a:prstGeom>
          <a:solidFill>
            <a:srgbClr val="5B9B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8539276" y="4462272"/>
            <a:ext cx="3195218" cy="365760"/>
          </a:xfrm>
          <a:prstGeom prst="rect">
            <a:avLst/>
          </a:prstGeom>
          <a:noFill/>
        </p:spPr>
        <p:txBody>
          <a:bodyPr wrap="square" anchor="t" lIns="0" rIns="0" tIns="0" bIns="0">
            <a:spAutoFit/>
          </a:bodyPr>
          <a:lstStyle/>
          <a:p>
            <a:pPr algn="l"/>
            <a:r>
              <a:rPr sz="900" b="0">
                <a:solidFill>
                  <a:srgbClr val="0A1F44"/>
                </a:solidFill>
                <a:latin typeface="Calibri"/>
              </a:rPr>
              <a:t>Historique des conversations d'investigation pour audit.</a:t>
            </a:r>
          </a:p>
        </p:txBody>
      </p:sp>
      <p:sp>
        <p:nvSpPr>
          <p:cNvPr id="72" name="Rectangle 71"/>
          <p:cNvSpPr/>
          <p:nvPr/>
        </p:nvSpPr>
        <p:spPr>
          <a:xfrm>
            <a:off x="8402116" y="4809744"/>
            <a:ext cx="64008" cy="64008"/>
          </a:xfrm>
          <a:prstGeom prst="rect">
            <a:avLst/>
          </a:prstGeom>
          <a:solidFill>
            <a:srgbClr val="5B9B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8539276" y="4736592"/>
            <a:ext cx="3195218" cy="365760"/>
          </a:xfrm>
          <a:prstGeom prst="rect">
            <a:avLst/>
          </a:prstGeom>
          <a:noFill/>
        </p:spPr>
        <p:txBody>
          <a:bodyPr wrap="square" anchor="t" lIns="0" rIns="0" tIns="0" bIns="0">
            <a:spAutoFit/>
          </a:bodyPr>
          <a:lstStyle/>
          <a:p>
            <a:pPr algn="l"/>
            <a:r>
              <a:rPr sz="900" b="0">
                <a:solidFill>
                  <a:srgbClr val="0A1F44"/>
                </a:solidFill>
                <a:latin typeface="Calibri"/>
              </a:rPr>
              <a:t>Journalisation d'evenements exportable vers l'outillage FinOps existant.</a:t>
            </a:r>
          </a:p>
        </p:txBody>
      </p:sp>
      <p:sp>
        <p:nvSpPr>
          <p:cNvPr id="74" name="Rectangle 73"/>
          <p:cNvSpPr/>
          <p:nvPr/>
        </p:nvSpPr>
        <p:spPr>
          <a:xfrm>
            <a:off x="365760" y="5577840"/>
            <a:ext cx="11460175" cy="777240"/>
          </a:xfrm>
          <a:prstGeom prst="rect">
            <a:avLst/>
          </a:prstGeom>
          <a:solidFill>
            <a:srgbClr val="0A1F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594360" y="5650992"/>
            <a:ext cx="2743200" cy="274320"/>
          </a:xfrm>
          <a:prstGeom prst="rect">
            <a:avLst/>
          </a:prstGeom>
          <a:noFill/>
        </p:spPr>
        <p:txBody>
          <a:bodyPr wrap="square" anchor="t" lIns="0" rIns="0" tIns="0" bIns="0">
            <a:spAutoFit/>
          </a:bodyPr>
          <a:lstStyle/>
          <a:p>
            <a:pPr algn="l"/>
            <a:r>
              <a:rPr sz="1100" b="1">
                <a:solidFill>
                  <a:srgbClr val="E60028"/>
                </a:solidFill>
                <a:latin typeface="Calibri"/>
              </a:rPr>
              <a:t>Impact quantifie</a:t>
            </a:r>
          </a:p>
        </p:txBody>
      </p:sp>
      <p:sp>
        <p:nvSpPr>
          <p:cNvPr id="76" name="TextBox 75"/>
          <p:cNvSpPr txBox="1"/>
          <p:nvPr/>
        </p:nvSpPr>
        <p:spPr>
          <a:xfrm>
            <a:off x="594360" y="5897880"/>
            <a:ext cx="3454298" cy="256032"/>
          </a:xfrm>
          <a:prstGeom prst="rect">
            <a:avLst/>
          </a:prstGeom>
          <a:noFill/>
        </p:spPr>
        <p:txBody>
          <a:bodyPr wrap="square" anchor="t" lIns="0" rIns="0" tIns="0" bIns="0">
            <a:spAutoFit/>
          </a:bodyPr>
          <a:lstStyle/>
          <a:p>
            <a:pPr algn="l"/>
            <a:r>
              <a:rPr sz="1000" b="1">
                <a:solidFill>
                  <a:srgbClr val="C7D2E5"/>
                </a:solidFill>
                <a:latin typeface="Calibri"/>
              </a:rPr>
              <a:t>CADRAGE</a:t>
            </a:r>
          </a:p>
        </p:txBody>
      </p:sp>
      <p:sp>
        <p:nvSpPr>
          <p:cNvPr id="77" name="TextBox 76"/>
          <p:cNvSpPr txBox="1"/>
          <p:nvPr/>
        </p:nvSpPr>
        <p:spPr>
          <a:xfrm>
            <a:off x="594360" y="6080760"/>
            <a:ext cx="3454298" cy="256032"/>
          </a:xfrm>
          <a:prstGeom prst="rect">
            <a:avLst/>
          </a:prstGeom>
          <a:noFill/>
        </p:spPr>
        <p:txBody>
          <a:bodyPr wrap="square" anchor="t" lIns="0" rIns="0" tIns="0" bIns="0">
            <a:spAutoFit/>
          </a:bodyPr>
          <a:lstStyle/>
          <a:p>
            <a:pPr algn="l"/>
            <a:r>
              <a:rPr sz="1400" b="1">
                <a:solidFill>
                  <a:srgbClr val="FFFFFF"/>
                </a:solidFill>
                <a:latin typeface="Calibri"/>
              </a:rPr>
              <a:t>-70% de temps de cadrage</a:t>
            </a:r>
          </a:p>
        </p:txBody>
      </p:sp>
      <p:sp>
        <p:nvSpPr>
          <p:cNvPr id="78" name="TextBox 77"/>
          <p:cNvSpPr txBox="1"/>
          <p:nvPr/>
        </p:nvSpPr>
        <p:spPr>
          <a:xfrm>
            <a:off x="4231538" y="5897880"/>
            <a:ext cx="3454298" cy="256032"/>
          </a:xfrm>
          <a:prstGeom prst="rect">
            <a:avLst/>
          </a:prstGeom>
          <a:noFill/>
        </p:spPr>
        <p:txBody>
          <a:bodyPr wrap="square" anchor="t" lIns="0" rIns="0" tIns="0" bIns="0">
            <a:spAutoFit/>
          </a:bodyPr>
          <a:lstStyle/>
          <a:p>
            <a:pPr algn="l"/>
            <a:r>
              <a:rPr sz="1000" b="1">
                <a:solidFill>
                  <a:srgbClr val="C7D2E5"/>
                </a:solidFill>
                <a:latin typeface="Calibri"/>
              </a:rPr>
              <a:t>BUILD</a:t>
            </a:r>
          </a:p>
        </p:txBody>
      </p:sp>
      <p:sp>
        <p:nvSpPr>
          <p:cNvPr id="79" name="TextBox 78"/>
          <p:cNvSpPr txBox="1"/>
          <p:nvPr/>
        </p:nvSpPr>
        <p:spPr>
          <a:xfrm>
            <a:off x="4231538" y="6080760"/>
            <a:ext cx="3454298" cy="256032"/>
          </a:xfrm>
          <a:prstGeom prst="rect">
            <a:avLst/>
          </a:prstGeom>
          <a:noFill/>
        </p:spPr>
        <p:txBody>
          <a:bodyPr wrap="square" anchor="t" lIns="0" rIns="0" tIns="0" bIns="0">
            <a:spAutoFit/>
          </a:bodyPr>
          <a:lstStyle/>
          <a:p>
            <a:pPr algn="l"/>
            <a:r>
              <a:rPr sz="1400" b="1">
                <a:solidFill>
                  <a:srgbClr val="FFFFFF"/>
                </a:solidFill>
                <a:latin typeface="Calibri"/>
              </a:rPr>
              <a:t>-25% de derive moyenne</a:t>
            </a:r>
          </a:p>
        </p:txBody>
      </p:sp>
      <p:sp>
        <p:nvSpPr>
          <p:cNvPr id="80" name="TextBox 79"/>
          <p:cNvSpPr txBox="1"/>
          <p:nvPr/>
        </p:nvSpPr>
        <p:spPr>
          <a:xfrm>
            <a:off x="7868716" y="5897880"/>
            <a:ext cx="3454298" cy="256032"/>
          </a:xfrm>
          <a:prstGeom prst="rect">
            <a:avLst/>
          </a:prstGeom>
          <a:noFill/>
        </p:spPr>
        <p:txBody>
          <a:bodyPr wrap="square" anchor="t" lIns="0" rIns="0" tIns="0" bIns="0">
            <a:spAutoFit/>
          </a:bodyPr>
          <a:lstStyle/>
          <a:p>
            <a:pPr algn="l"/>
            <a:r>
              <a:rPr sz="1000" b="1">
                <a:solidFill>
                  <a:srgbClr val="C7D2E5"/>
                </a:solidFill>
                <a:latin typeface="Calibri"/>
              </a:rPr>
              <a:t>RUN</a:t>
            </a:r>
          </a:p>
        </p:txBody>
      </p:sp>
      <p:sp>
        <p:nvSpPr>
          <p:cNvPr id="81" name="TextBox 80"/>
          <p:cNvSpPr txBox="1"/>
          <p:nvPr/>
        </p:nvSpPr>
        <p:spPr>
          <a:xfrm>
            <a:off x="7868716" y="6080760"/>
            <a:ext cx="3454298" cy="256032"/>
          </a:xfrm>
          <a:prstGeom prst="rect">
            <a:avLst/>
          </a:prstGeom>
          <a:noFill/>
        </p:spPr>
        <p:txBody>
          <a:bodyPr wrap="square" anchor="t" lIns="0" rIns="0" tIns="0" bIns="0">
            <a:spAutoFit/>
          </a:bodyPr>
          <a:lstStyle/>
          <a:p>
            <a:pPr algn="l"/>
            <a:r>
              <a:rPr sz="1400" b="1">
                <a:solidFill>
                  <a:srgbClr val="FFFFFF"/>
                </a:solidFill>
                <a:latin typeface="Calibri"/>
              </a:rPr>
              <a:t>-12 a -18% sur la facture 6 mois</a:t>
            </a:r>
          </a:p>
        </p:txBody>
      </p:sp>
      <p:sp>
        <p:nvSpPr>
          <p:cNvPr id="82" name="TextBox 81"/>
          <p:cNvSpPr txBox="1"/>
          <p:nvPr/>
        </p:nvSpPr>
        <p:spPr>
          <a:xfrm>
            <a:off x="365760" y="6537960"/>
            <a:ext cx="9144000" cy="274320"/>
          </a:xfrm>
          <a:prstGeom prst="rect">
            <a:avLst/>
          </a:prstGeom>
          <a:noFill/>
        </p:spPr>
        <p:txBody>
          <a:bodyPr wrap="square" anchor="t" lIns="0" rIns="0" tIns="0" bIns="0">
            <a:spAutoFit/>
          </a:bodyPr>
          <a:lstStyle/>
          <a:p>
            <a:pPr algn="l"/>
            <a:r>
              <a:rPr sz="900" b="0">
                <a:solidFill>
                  <a:srgbClr val="555F6D"/>
                </a:solidFill>
                <a:latin typeface="Calibri"/>
              </a:rPr>
              <a:t>Sia. FinOps AI Platform. Confidential.</a:t>
            </a:r>
          </a:p>
        </p:txBody>
      </p:sp>
      <p:sp>
        <p:nvSpPr>
          <p:cNvPr id="83" name="TextBox 82"/>
          <p:cNvSpPr txBox="1"/>
          <p:nvPr/>
        </p:nvSpPr>
        <p:spPr>
          <a:xfrm>
            <a:off x="11430000" y="6537960"/>
            <a:ext cx="548640" cy="274320"/>
          </a:xfrm>
          <a:prstGeom prst="rect">
            <a:avLst/>
          </a:prstGeom>
          <a:noFill/>
        </p:spPr>
        <p:txBody>
          <a:bodyPr wrap="square" anchor="t" lIns="0" rIns="0" tIns="0" bIns="0">
            <a:spAutoFit/>
          </a:bodyPr>
          <a:lstStyle/>
          <a:p>
            <a:pPr algn="r"/>
            <a:r>
              <a:rPr sz="900" b="0">
                <a:solidFill>
                  <a:srgbClr val="555F6D"/>
                </a:solidFill>
                <a:latin typeface="Calibri"/>
              </a:rPr>
              <a:t>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